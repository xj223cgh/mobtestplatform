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6"/>
  </p:notesMasterIdLst>
  <p:sldIdLst>
    <p:sldId id="256" r:id="rId3"/>
    <p:sldId id="257" r:id="rId4"/>
    <p:sldId id="258" r:id="rId5"/>
    <p:sldId id="272" r:id="rId6"/>
    <p:sldId id="264" r:id="rId7"/>
    <p:sldId id="262" r:id="rId8"/>
    <p:sldId id="259" r:id="rId9"/>
    <p:sldId id="273" r:id="rId10"/>
    <p:sldId id="260" r:id="rId11"/>
    <p:sldId id="275" r:id="rId12"/>
    <p:sldId id="261" r:id="rId13"/>
    <p:sldId id="263" r:id="rId14"/>
    <p:sldId id="274" r:id="rId15"/>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62"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91" autoAdjust="0"/>
    <p:restoredTop sz="96314" autoAdjust="0"/>
  </p:normalViewPr>
  <p:slideViewPr>
    <p:cSldViewPr snapToGrid="0" showGuides="1">
      <p:cViewPr varScale="1">
        <p:scale>
          <a:sx n="119" d="100"/>
          <a:sy n="119" d="100"/>
        </p:scale>
        <p:origin x="360" y="91"/>
      </p:cViewPr>
      <p:guideLst>
        <p:guide orient="horz" pos="1162"/>
        <p:guide pos="384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B725A-BFDD-44D0-A8D3-61766B07B7F1}" type="datetimeFigureOut">
              <a:rPr lang="zh-CN" altLang="en-US" smtClean="0"/>
              <a:t>2026/4/29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BCC932-0C1F-4C94-8B9A-3944ABBB4E30}" type="slidenum">
              <a:rPr lang="zh-CN" altLang="en-US" smtClean="0"/>
              <a:t>‹#›</a:t>
            </a:fld>
            <a:endParaRPr lang="zh-CN" altLang="en-US"/>
          </a:p>
        </p:txBody>
      </p:sp>
    </p:spTree>
    <p:extLst>
      <p:ext uri="{BB962C8B-B14F-4D97-AF65-F5344CB8AC3E}">
        <p14:creationId xmlns:p14="http://schemas.microsoft.com/office/powerpoint/2010/main" val="294710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2020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073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796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2649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0636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3762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2987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7441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6013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3FEA9-248E-0924-8FEE-C861043E6E9B}"/>
            </a:ext>
          </a:extLst>
        </p:cNvPr>
        <p:cNvGrpSpPr/>
        <p:nvPr/>
      </p:nvGrpSpPr>
      <p:grpSpPr>
        <a:xfrm>
          <a:off x="0" y="0"/>
          <a:ext cx="0" cy="0"/>
          <a:chOff x="0" y="0"/>
          <a:chExt cx="0" cy="0"/>
        </a:xfrm>
      </p:grpSpPr>
    </p:spTree>
    <p:extLst>
      <p:ext uri="{BB962C8B-B14F-4D97-AF65-F5344CB8AC3E}">
        <p14:creationId xmlns:p14="http://schemas.microsoft.com/office/powerpoint/2010/main" val="3730355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3637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57746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820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2026/4/29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2155440255"/>
      </p:ext>
    </p:extLst>
  </p:cSld>
  <p:clrMapOvr>
    <a:masterClrMapping/>
  </p:clrMapOvr>
  <mc:AlternateContent xmlns:mc="http://schemas.openxmlformats.org/markup-compatibility/2006" xmlns:p14="http://schemas.microsoft.com/office/powerpoint/2010/main">
    <mc:Choice Requires="p14">
      <p:transition p14:dur="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2026/4/29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4251981102"/>
      </p:ext>
    </p:extLst>
  </p:cSld>
  <p:clrMapOvr>
    <a:masterClrMapping/>
  </p:clrMapOvr>
  <mc:AlternateContent xmlns:mc="http://schemas.openxmlformats.org/markup-compatibility/2006" xmlns:p14="http://schemas.microsoft.com/office/powerpoint/2010/main">
    <mc:Choice Requires="p14">
      <p:transition p14:dur="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2026/4/29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2496556029"/>
      </p:ext>
    </p:extLst>
  </p:cSld>
  <p:clrMapOvr>
    <a:masterClrMapping/>
  </p:clrMapOvr>
  <mc:AlternateContent xmlns:mc="http://schemas.openxmlformats.org/markup-compatibility/2006" xmlns:p14="http://schemas.microsoft.com/office/powerpoint/2010/main">
    <mc:Choice Requires="p14">
      <p:transition p14:dur="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AF6F278-ABF0-48CA-ADF0-1D43CCA8A181}" type="datetimeFigureOut">
              <a:rPr lang="zh-CN" altLang="en-US" smtClean="0"/>
              <a:t>2026/4/29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300992857"/>
      </p:ext>
    </p:extLst>
  </p:cSld>
  <p:clrMapOvr>
    <a:masterClrMapping/>
  </p:clrMapOvr>
  <mc:AlternateContent xmlns:mc="http://schemas.openxmlformats.org/markup-compatibility/2006" xmlns:p14="http://schemas.microsoft.com/office/powerpoint/2010/main">
    <mc:Choice Requires="p14">
      <p:transition p14:dur="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AF6F278-ABF0-48CA-ADF0-1D43CCA8A181}" type="datetimeFigureOut">
              <a:rPr lang="zh-CN" altLang="en-US" smtClean="0"/>
              <a:t>2026/4/29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3696548795"/>
      </p:ext>
    </p:extLst>
  </p:cSld>
  <p:clrMapOvr>
    <a:masterClrMapping/>
  </p:clrMapOvr>
  <mc:AlternateContent xmlns:mc="http://schemas.openxmlformats.org/markup-compatibility/2006" xmlns:p14="http://schemas.microsoft.com/office/powerpoint/2010/main">
    <mc:Choice Requires="p14">
      <p:transition p14:dur="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AF6F278-ABF0-48CA-ADF0-1D43CCA8A181}" type="datetimeFigureOut">
              <a:rPr lang="zh-CN" altLang="en-US" smtClean="0"/>
              <a:t>2026/4/29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3987785369"/>
      </p:ext>
    </p:extLst>
  </p:cSld>
  <p:clrMapOvr>
    <a:masterClrMapping/>
  </p:clrMapOvr>
  <mc:AlternateContent xmlns:mc="http://schemas.openxmlformats.org/markup-compatibility/2006" xmlns:p14="http://schemas.microsoft.com/office/powerpoint/2010/main">
    <mc:Choice Requires="p14">
      <p:transition p14:dur="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AF6F278-ABF0-48CA-ADF0-1D43CCA8A181}" type="datetimeFigureOut">
              <a:rPr lang="zh-CN" altLang="en-US" smtClean="0"/>
              <a:t>2026/4/29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1380765298"/>
      </p:ext>
    </p:extLst>
  </p:cSld>
  <p:clrMapOvr>
    <a:masterClrMapping/>
  </p:clrMapOvr>
  <mc:AlternateContent xmlns:mc="http://schemas.openxmlformats.org/markup-compatibility/2006" xmlns:p14="http://schemas.microsoft.com/office/powerpoint/2010/main">
    <mc:Choice Requires="p14">
      <p:transition p14:dur="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8AF6F278-ABF0-48CA-ADF0-1D43CCA8A181}" type="datetimeFigureOut">
              <a:rPr lang="zh-CN" altLang="en-US" smtClean="0"/>
              <a:t>2026/4/29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1008421190"/>
      </p:ext>
    </p:extLst>
  </p:cSld>
  <p:clrMapOvr>
    <a:masterClrMapping/>
  </p:clrMapOvr>
  <mc:AlternateContent xmlns:mc="http://schemas.openxmlformats.org/markup-compatibility/2006" xmlns:p14="http://schemas.microsoft.com/office/powerpoint/2010/main">
    <mc:Choice Requires="p14">
      <p:transition p14:dur="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8AF6F278-ABF0-48CA-ADF0-1D43CCA8A181}" type="datetimeFigureOut">
              <a:rPr lang="zh-CN" altLang="en-US" smtClean="0"/>
              <a:t>2026/4/29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649586407"/>
      </p:ext>
    </p:extLst>
  </p:cSld>
  <p:clrMapOvr>
    <a:masterClrMapping/>
  </p:clrMapOvr>
  <mc:AlternateContent xmlns:mc="http://schemas.openxmlformats.org/markup-compatibility/2006" xmlns:p14="http://schemas.microsoft.com/office/powerpoint/2010/main">
    <mc:Choice Requires="p14">
      <p:transition p14:dur="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2026/4/29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3956612616"/>
      </p:ext>
    </p:extLst>
  </p:cSld>
  <p:clrMapOvr>
    <a:masterClrMapping/>
  </p:clrMapOvr>
  <mc:AlternateContent xmlns:mc="http://schemas.openxmlformats.org/markup-compatibility/2006" xmlns:p14="http://schemas.microsoft.com/office/powerpoint/2010/main">
    <mc:Choice Requires="p14">
      <p:transition p14:dur="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2026/4/29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1260705704"/>
      </p:ext>
    </p:extLst>
  </p:cSld>
  <p:clrMapOvr>
    <a:masterClrMapping/>
  </p:clrMapOvr>
  <mc:AlternateContent xmlns:mc="http://schemas.openxmlformats.org/markup-compatibility/2006" xmlns:p14="http://schemas.microsoft.com/office/powerpoint/2010/main">
    <mc:Choice Requires="p14">
      <p:transition p14:dur="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Tm="3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2026/4/29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197617754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2026/4/29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842860541"/>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2026/4/29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27237777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2026/4/29</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87129277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2026/4/29</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376884787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2026/4/29</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651929045"/>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2026/4/29</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387170805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2026/4/29</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1127487786"/>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2026/4/29</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659794445"/>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2026/4/29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137941048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 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2026/4/29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401198675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F6F278-ABF0-48CA-ADF0-1D43CCA8A181}" type="datetimeFigureOut">
              <a:rPr lang="zh-CN" altLang="en-US" smtClean="0"/>
              <a:t>2026/4/29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2636820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E5758D-A3C3-4E88-8AC0-22500507BD7E}" type="datetimeFigureOut">
              <a:rPr lang="zh-CN" altLang="en-US" smtClean="0">
                <a:solidFill>
                  <a:prstClr val="black">
                    <a:tint val="75000"/>
                  </a:prstClr>
                </a:solidFill>
              </a:rPr>
              <a:t>2026/4/29</a:t>
            </a:fld>
            <a:endParaRPr lang="zh-CN"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39288164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45805"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84658"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403122" y="449825"/>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p:cNvSpPr txBox="1"/>
          <p:nvPr/>
        </p:nvSpPr>
        <p:spPr>
          <a:xfrm>
            <a:off x="819767" y="1861275"/>
            <a:ext cx="10553700" cy="769441"/>
          </a:xfrm>
          <a:prstGeom prst="rect">
            <a:avLst/>
          </a:prstGeom>
          <a:noFill/>
        </p:spPr>
        <p:txBody>
          <a:bodyPr wrap="square" rtlCol="0">
            <a:spAutoFit/>
          </a:bodyPr>
          <a:lstStyle/>
          <a:p>
            <a:pPr algn="dist"/>
            <a:r>
              <a:rPr lang="zh-CN" altLang="en-US" sz="4400" dirty="0">
                <a:solidFill>
                  <a:srgbClr val="1C4885"/>
                </a:solidFill>
                <a:latin typeface="FZZhengHeiS-DB-GB" panose="02000000000000000000" pitchFamily="2" charset="0"/>
                <a:ea typeface="FZZhengHeiS-DB-GB" panose="02000000000000000000" pitchFamily="2" charset="0"/>
              </a:rPr>
              <a:t>基于</a:t>
            </a:r>
            <a:r>
              <a:rPr lang="en-US" altLang="zh-CN" sz="4400" dirty="0">
                <a:solidFill>
                  <a:srgbClr val="1C4885"/>
                </a:solidFill>
                <a:latin typeface="FZZhengHeiS-DB-GB" panose="02000000000000000000" pitchFamily="2" charset="0"/>
                <a:ea typeface="FZZhengHeiS-DB-GB" panose="02000000000000000000" pitchFamily="2" charset="0"/>
              </a:rPr>
              <a:t>Flask</a:t>
            </a:r>
            <a:r>
              <a:rPr lang="zh-CN" altLang="en-US" sz="4400" dirty="0">
                <a:solidFill>
                  <a:srgbClr val="1C4885"/>
                </a:solidFill>
                <a:latin typeface="FZZhengHeiS-DB-GB" panose="02000000000000000000" pitchFamily="2" charset="0"/>
                <a:ea typeface="FZZhengHeiS-DB-GB" panose="02000000000000000000" pitchFamily="2" charset="0"/>
              </a:rPr>
              <a:t>的移动测试平台设计与实现</a:t>
            </a:r>
            <a:endParaRPr lang="en-US" altLang="zh-CN" sz="4400" dirty="0">
              <a:solidFill>
                <a:srgbClr val="1C4885"/>
              </a:solidFill>
              <a:latin typeface="FZZhengHeiS-DB-GB" panose="02000000000000000000" pitchFamily="2" charset="0"/>
              <a:ea typeface="FZZhengHeiS-DB-GB" panose="02000000000000000000" pitchFamily="2" charset="0"/>
            </a:endParaRPr>
          </a:p>
        </p:txBody>
      </p:sp>
      <p:sp>
        <p:nvSpPr>
          <p:cNvPr id="17" name="文本框 16"/>
          <p:cNvSpPr txBox="1"/>
          <p:nvPr/>
        </p:nvSpPr>
        <p:spPr>
          <a:xfrm>
            <a:off x="3401192" y="4497325"/>
            <a:ext cx="5523734" cy="369332"/>
          </a:xfrm>
          <a:prstGeom prst="rect">
            <a:avLst/>
          </a:prstGeom>
          <a:noFill/>
        </p:spPr>
        <p:txBody>
          <a:bodyPr wrap="square" rtlCol="0">
            <a:spAutoFit/>
          </a:bodyPr>
          <a:lstStyle/>
          <a:p>
            <a:pPr algn="just"/>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汇报人：信计</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223</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陈国慧   汇报时间：</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2026</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5</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月</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6</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日</a:t>
            </a:r>
          </a:p>
        </p:txBody>
      </p:sp>
      <p:cxnSp>
        <p:nvCxnSpPr>
          <p:cNvPr id="18" name="直接连接符 17"/>
          <p:cNvCxnSpPr/>
          <p:nvPr/>
        </p:nvCxnSpPr>
        <p:spPr>
          <a:xfrm>
            <a:off x="5401595" y="3938742"/>
            <a:ext cx="1388806"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058981" y="3100063"/>
            <a:ext cx="8208155" cy="369332"/>
          </a:xfrm>
          <a:prstGeom prst="rect">
            <a:avLst/>
          </a:prstGeom>
          <a:noFill/>
        </p:spPr>
        <p:txBody>
          <a:bodyPr wrap="square" rtlCol="0">
            <a:spAutoFit/>
          </a:bodyPr>
          <a:lstStyle/>
          <a:p>
            <a:pPr algn="dist"/>
            <a:r>
              <a:rPr lang="en-US" altLang="zh-CN" dirty="0">
                <a:solidFill>
                  <a:srgbClr val="1C4885"/>
                </a:solidFill>
                <a:latin typeface="微软雅黑" panose="020B0503020204020204" pitchFamily="34" charset="-122"/>
                <a:ea typeface="微软雅黑" panose="020B0503020204020204" pitchFamily="34" charset="-122"/>
              </a:rPr>
              <a:t>Design and Implementation of a Mobile Testing Platform Based on Flask</a:t>
            </a:r>
          </a:p>
        </p:txBody>
      </p:sp>
      <p:pic>
        <p:nvPicPr>
          <p:cNvPr id="3" name="图片 2">
            <a:extLst>
              <a:ext uri="{FF2B5EF4-FFF2-40B4-BE49-F238E27FC236}">
                <a16:creationId xmlns:a16="http://schemas.microsoft.com/office/drawing/2014/main" id="{CCB3EA16-34FC-1003-73C5-D11F3EBFB2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39242" y="738438"/>
            <a:ext cx="834225" cy="834225"/>
          </a:xfrm>
          <a:prstGeom prst="rect">
            <a:avLst/>
          </a:prstGeom>
        </p:spPr>
      </p:pic>
    </p:spTree>
    <p:extLst>
      <p:ext uri="{BB962C8B-B14F-4D97-AF65-F5344CB8AC3E}">
        <p14:creationId xmlns:p14="http://schemas.microsoft.com/office/powerpoint/2010/main" val="3440280556"/>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88709" y="5737122"/>
            <a:ext cx="3957485" cy="825909"/>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45804" y="294968"/>
            <a:ext cx="3957485" cy="825909"/>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403122" y="449825"/>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731039" y="1527229"/>
            <a:ext cx="2325946" cy="822960"/>
          </a:xfrm>
          <a:prstGeom prst="rect">
            <a:avLst/>
          </a:prstGeom>
          <a:noFill/>
        </p:spPr>
        <p:txBody>
          <a:bodyPr wrap="square" rtlCol="0">
            <a:spAutoFit/>
          </a:bodyPr>
          <a:lstStyle/>
          <a:p>
            <a:pPr algn="dist"/>
            <a:r>
              <a:rPr lang="zh-CN" altLang="en-US" sz="4800" dirty="0">
                <a:solidFill>
                  <a:srgbClr val="1C4885"/>
                </a:solidFill>
                <a:latin typeface="FZZhengHeiS-DB-GB" panose="02000000000000000000" pitchFamily="2" charset="0"/>
                <a:ea typeface="FZZhengHeiS-DB-GB" panose="02000000000000000000" pitchFamily="2" charset="0"/>
              </a:rPr>
              <a:t>目录</a:t>
            </a:r>
          </a:p>
        </p:txBody>
      </p:sp>
      <p:sp>
        <p:nvSpPr>
          <p:cNvPr id="8" name="文本框 7"/>
          <p:cNvSpPr txBox="1"/>
          <p:nvPr/>
        </p:nvSpPr>
        <p:spPr>
          <a:xfrm>
            <a:off x="1731040" y="995847"/>
            <a:ext cx="2325945" cy="396240"/>
          </a:xfrm>
          <a:prstGeom prst="rect">
            <a:avLst/>
          </a:prstGeom>
          <a:noFill/>
        </p:spPr>
        <p:txBody>
          <a:bodyPr wrap="square" rtlCol="0">
            <a:spAutoFit/>
          </a:bodyPr>
          <a:lstStyle/>
          <a:p>
            <a:pPr algn="dist"/>
            <a:r>
              <a:rPr lang="en-US" altLang="zh-CN" sz="2000" dirty="0">
                <a:solidFill>
                  <a:srgbClr val="1C4885"/>
                </a:solidFill>
                <a:latin typeface="FuturaBookC" charset="-52"/>
                <a:ea typeface="微软雅黑" panose="020B0503020204020204" pitchFamily="34" charset="-122"/>
              </a:rPr>
              <a:t>CONTENT</a:t>
            </a:r>
          </a:p>
        </p:txBody>
      </p:sp>
      <p:sp>
        <p:nvSpPr>
          <p:cNvPr id="9" name="椭圆 8"/>
          <p:cNvSpPr/>
          <p:nvPr/>
        </p:nvSpPr>
        <p:spPr>
          <a:xfrm>
            <a:off x="2678633" y="2824469"/>
            <a:ext cx="643774" cy="643774"/>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FuturaBookC" charset="-52"/>
              </a:rPr>
              <a:t>01</a:t>
            </a:r>
          </a:p>
        </p:txBody>
      </p:sp>
      <p:sp>
        <p:nvSpPr>
          <p:cNvPr id="10" name="文本框 9"/>
          <p:cNvSpPr txBox="1"/>
          <p:nvPr/>
        </p:nvSpPr>
        <p:spPr>
          <a:xfrm>
            <a:off x="3525493" y="2915524"/>
            <a:ext cx="2404580" cy="461665"/>
          </a:xfrm>
          <a:prstGeom prst="rect">
            <a:avLst/>
          </a:prstGeom>
          <a:noFill/>
        </p:spPr>
        <p:txBody>
          <a:bodyPr wrap="square" rtlCol="0">
            <a:spAutoFit/>
          </a:bodyPr>
          <a:lstStyle/>
          <a:p>
            <a:pPr algn="just"/>
            <a:r>
              <a:rPr lang="zh-CN" altLang="en-US" sz="2400" dirty="0">
                <a:latin typeface="FZZhengHeiS-DB-GB" panose="02000000000000000000" pitchFamily="2" charset="0"/>
                <a:ea typeface="FZZhengHeiS-DB-GB" panose="02000000000000000000" pitchFamily="2" charset="0"/>
              </a:rPr>
              <a:t>研究背景与意义</a:t>
            </a:r>
          </a:p>
        </p:txBody>
      </p:sp>
      <p:sp>
        <p:nvSpPr>
          <p:cNvPr id="12" name="椭圆 11"/>
          <p:cNvSpPr/>
          <p:nvPr/>
        </p:nvSpPr>
        <p:spPr>
          <a:xfrm>
            <a:off x="6322512" y="2824469"/>
            <a:ext cx="643774" cy="643774"/>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FuturaBookC" charset="-52"/>
              </a:rPr>
              <a:t>02</a:t>
            </a:r>
          </a:p>
        </p:txBody>
      </p:sp>
      <p:sp>
        <p:nvSpPr>
          <p:cNvPr id="13" name="文本框 12"/>
          <p:cNvSpPr txBox="1"/>
          <p:nvPr/>
        </p:nvSpPr>
        <p:spPr>
          <a:xfrm>
            <a:off x="7328146" y="2915523"/>
            <a:ext cx="2330262" cy="461665"/>
          </a:xfrm>
          <a:prstGeom prst="rect">
            <a:avLst/>
          </a:prstGeom>
          <a:noFill/>
        </p:spPr>
        <p:txBody>
          <a:bodyPr wrap="square" rtlCol="0">
            <a:spAutoFit/>
          </a:bodyPr>
          <a:lstStyle/>
          <a:p>
            <a:pPr algn="just"/>
            <a:r>
              <a:rPr lang="zh-CN" altLang="en-US" sz="2400" dirty="0">
                <a:latin typeface="FZZhengHeiS-DB-GB" panose="02000000000000000000" pitchFamily="2" charset="0"/>
                <a:ea typeface="FZZhengHeiS-DB-GB" panose="02000000000000000000" pitchFamily="2" charset="0"/>
              </a:rPr>
              <a:t>系统设计</a:t>
            </a:r>
          </a:p>
        </p:txBody>
      </p:sp>
      <p:sp>
        <p:nvSpPr>
          <p:cNvPr id="15" name="椭圆 14"/>
          <p:cNvSpPr/>
          <p:nvPr/>
        </p:nvSpPr>
        <p:spPr>
          <a:xfrm>
            <a:off x="2678633" y="4104486"/>
            <a:ext cx="643774" cy="643774"/>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FuturaBookC" charset="-52"/>
              </a:rPr>
              <a:t>03</a:t>
            </a:r>
          </a:p>
        </p:txBody>
      </p:sp>
      <p:sp>
        <p:nvSpPr>
          <p:cNvPr id="18" name="椭圆 17"/>
          <p:cNvSpPr/>
          <p:nvPr/>
        </p:nvSpPr>
        <p:spPr>
          <a:xfrm>
            <a:off x="6322512" y="4104486"/>
            <a:ext cx="643774" cy="643774"/>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FuturaBookC" charset="-52"/>
              </a:rPr>
              <a:t>04</a:t>
            </a:r>
          </a:p>
        </p:txBody>
      </p:sp>
      <p:sp>
        <p:nvSpPr>
          <p:cNvPr id="20" name="文本框 19"/>
          <p:cNvSpPr txBox="1"/>
          <p:nvPr/>
        </p:nvSpPr>
        <p:spPr>
          <a:xfrm>
            <a:off x="7328146" y="4197773"/>
            <a:ext cx="1712092" cy="457200"/>
          </a:xfrm>
          <a:prstGeom prst="rect">
            <a:avLst/>
          </a:prstGeom>
          <a:noFill/>
        </p:spPr>
        <p:txBody>
          <a:bodyPr wrap="square" rtlCol="0">
            <a:spAutoFit/>
          </a:bodyPr>
          <a:lstStyle/>
          <a:p>
            <a:pPr algn="just"/>
            <a:r>
              <a:rPr lang="zh-CN" altLang="en-US" sz="2400" dirty="0">
                <a:latin typeface="FZZhengHeiS-DB-GB" panose="02000000000000000000" pitchFamily="2" charset="0"/>
                <a:ea typeface="FZZhengHeiS-DB-GB" panose="02000000000000000000" pitchFamily="2" charset="0"/>
              </a:rPr>
              <a:t>总结与展望</a:t>
            </a:r>
          </a:p>
        </p:txBody>
      </p:sp>
      <p:pic>
        <p:nvPicPr>
          <p:cNvPr id="2" name="图片 1">
            <a:extLst>
              <a:ext uri="{FF2B5EF4-FFF2-40B4-BE49-F238E27FC236}">
                <a16:creationId xmlns:a16="http://schemas.microsoft.com/office/drawing/2014/main" id="{E6DC33FF-136F-F587-D979-E25FA95FF1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39242" y="738438"/>
            <a:ext cx="834225" cy="834225"/>
          </a:xfrm>
          <a:prstGeom prst="rect">
            <a:avLst/>
          </a:prstGeom>
        </p:spPr>
      </p:pic>
      <p:sp>
        <p:nvSpPr>
          <p:cNvPr id="23" name="文本框 22">
            <a:extLst>
              <a:ext uri="{FF2B5EF4-FFF2-40B4-BE49-F238E27FC236}">
                <a16:creationId xmlns:a16="http://schemas.microsoft.com/office/drawing/2014/main" id="{38B42F95-8429-89E9-4B1E-8CB19CEAF096}"/>
              </a:ext>
            </a:extLst>
          </p:cNvPr>
          <p:cNvSpPr txBox="1"/>
          <p:nvPr/>
        </p:nvSpPr>
        <p:spPr>
          <a:xfrm>
            <a:off x="3525493" y="4200184"/>
            <a:ext cx="1832890" cy="461665"/>
          </a:xfrm>
          <a:prstGeom prst="rect">
            <a:avLst/>
          </a:prstGeom>
          <a:noFill/>
        </p:spPr>
        <p:txBody>
          <a:bodyPr wrap="square" rtlCol="0">
            <a:spAutoFit/>
          </a:bodyPr>
          <a:lstStyle/>
          <a:p>
            <a:pPr algn="just"/>
            <a:r>
              <a:rPr lang="zh-CN" altLang="en-US" sz="2400" dirty="0">
                <a:latin typeface="FZZhengHeiS-DB-GB" panose="02000000000000000000" pitchFamily="2" charset="0"/>
                <a:ea typeface="FZZhengHeiS-DB-GB" panose="02000000000000000000" pitchFamily="2" charset="0"/>
              </a:rPr>
              <a:t>实现与验证</a:t>
            </a:r>
          </a:p>
        </p:txBody>
      </p:sp>
    </p:spTree>
    <p:extLst>
      <p:ext uri="{BB962C8B-B14F-4D97-AF65-F5344CB8AC3E}">
        <p14:creationId xmlns:p14="http://schemas.microsoft.com/office/powerpoint/2010/main" val="2602993393"/>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403122" y="449825"/>
            <a:ext cx="11385755" cy="5958349"/>
          </a:xfrm>
          <a:prstGeom prst="roundRect">
            <a:avLst>
              <a:gd name="adj" fmla="val 1568"/>
            </a:avLst>
          </a:prstGeom>
          <a:solidFill>
            <a:schemeClr val="bg1"/>
          </a:solidFill>
          <a:ln>
            <a:noFill/>
          </a:ln>
          <a:effectLst>
            <a:glow rad="228600">
              <a:srgbClr val="02615A">
                <a:alpha val="3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887301" y="2420811"/>
            <a:ext cx="1592179" cy="1592179"/>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800" b="1">
                <a:solidFill>
                  <a:schemeClr val="bg1"/>
                </a:solidFill>
                <a:latin typeface="FuturaBookC" pitchFamily="2" charset="-52"/>
              </a:rPr>
              <a:t>1</a:t>
            </a:r>
          </a:p>
        </p:txBody>
      </p:sp>
      <p:sp>
        <p:nvSpPr>
          <p:cNvPr id="8" name="文本框 7"/>
          <p:cNvSpPr txBox="1"/>
          <p:nvPr/>
        </p:nvSpPr>
        <p:spPr>
          <a:xfrm>
            <a:off x="4476985" y="2420811"/>
            <a:ext cx="5760360" cy="762000"/>
          </a:xfrm>
          <a:prstGeom prst="rect">
            <a:avLst/>
          </a:prstGeom>
          <a:noFill/>
        </p:spPr>
        <p:txBody>
          <a:bodyPr wrap="square" rtlCol="0">
            <a:spAutoFit/>
          </a:bodyPr>
          <a:lstStyle/>
          <a:p>
            <a:pPr algn="dist"/>
            <a:r>
              <a:rPr lang="zh-CN" altLang="en-US" sz="4400" dirty="0">
                <a:solidFill>
                  <a:srgbClr val="1C4885"/>
                </a:solidFill>
                <a:latin typeface="FZZhengHeiS-DB-GB" panose="02000000000000000000" pitchFamily="2" charset="0"/>
                <a:ea typeface="FZZhengHeiS-DB-GB" panose="02000000000000000000" pitchFamily="2" charset="0"/>
              </a:rPr>
              <a:t>研究背景及意义</a:t>
            </a:r>
          </a:p>
        </p:txBody>
      </p:sp>
      <p:cxnSp>
        <p:nvCxnSpPr>
          <p:cNvPr id="9" name="直接连接符 8"/>
          <p:cNvCxnSpPr/>
          <p:nvPr/>
        </p:nvCxnSpPr>
        <p:spPr>
          <a:xfrm>
            <a:off x="4663554" y="3428999"/>
            <a:ext cx="1112406"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4359507" y="3674436"/>
            <a:ext cx="3653934" cy="338554"/>
          </a:xfrm>
          <a:prstGeom prst="rect">
            <a:avLst/>
          </a:prstGeom>
          <a:noFill/>
        </p:spPr>
        <p:txBody>
          <a:bodyPr wrap="square" rtlCol="0">
            <a:spAutoFit/>
          </a:bodyPr>
          <a:lstStyle/>
          <a:p>
            <a:pPr algn="ctr"/>
            <a:r>
              <a:rPr lang="en-US" altLang="zh-CN" sz="1600" dirty="0">
                <a:solidFill>
                  <a:schemeClr val="tx1">
                    <a:lumMod val="85000"/>
                    <a:lumOff val="15000"/>
                  </a:schemeClr>
                </a:solidFill>
                <a:latin typeface="FuturaBookC" pitchFamily="2" charset="-52"/>
                <a:ea typeface="锐字逼格青春粗黑体简2.0" panose="02010604000000000000" pitchFamily="2" charset="-122"/>
              </a:rPr>
              <a:t>Research background and significance</a:t>
            </a:r>
          </a:p>
        </p:txBody>
      </p:sp>
      <p:pic>
        <p:nvPicPr>
          <p:cNvPr id="2" name="图片 1">
            <a:extLst>
              <a:ext uri="{FF2B5EF4-FFF2-40B4-BE49-F238E27FC236}">
                <a16:creationId xmlns:a16="http://schemas.microsoft.com/office/drawing/2014/main" id="{E98B82B2-E2BB-4193-9ED7-2FBAA09E0E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39242" y="738438"/>
            <a:ext cx="834225" cy="834225"/>
          </a:xfrm>
          <a:prstGeom prst="rect">
            <a:avLst/>
          </a:prstGeom>
        </p:spPr>
      </p:pic>
    </p:spTree>
    <p:extLst>
      <p:ext uri="{BB962C8B-B14F-4D97-AF65-F5344CB8AC3E}">
        <p14:creationId xmlns:p14="http://schemas.microsoft.com/office/powerpoint/2010/main" val="397632953"/>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648" y="409927"/>
            <a:ext cx="2538453" cy="51816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质量保障</a:t>
            </a:r>
          </a:p>
        </p:txBody>
      </p:sp>
      <p:sp>
        <p:nvSpPr>
          <p:cNvPr id="5" name="文本框 4"/>
          <p:cNvSpPr txBox="1"/>
          <p:nvPr/>
        </p:nvSpPr>
        <p:spPr>
          <a:xfrm>
            <a:off x="904649" y="840662"/>
            <a:ext cx="2251507" cy="304800"/>
          </a:xfrm>
          <a:prstGeom prst="rect">
            <a:avLst/>
          </a:prstGeom>
          <a:noFill/>
        </p:spPr>
        <p:txBody>
          <a:bodyPr wrap="square" rtlCol="0">
            <a:spAutoFit/>
          </a:bodyPr>
          <a:lstStyle/>
          <a:p>
            <a:pPr algn="dist"/>
            <a:r>
              <a:rPr lang="zh-CN" altLang="en-US" sz="1400" dirty="0">
                <a:solidFill>
                  <a:schemeClr val="tx1">
                    <a:lumMod val="85000"/>
                    <a:lumOff val="15000"/>
                  </a:schemeClr>
                </a:solidFill>
                <a:latin typeface="FuturaBookC" charset="-52"/>
                <a:ea typeface="微软雅黑" panose="020B0503020204020204" pitchFamily="34" charset="-122"/>
              </a:rPr>
              <a:t>软件应用质量保障的目标</a:t>
            </a:r>
            <a:endParaRPr lang="en-US" altLang="zh-CN"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flipH="1">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sp>
        <p:nvSpPr>
          <p:cNvPr id="8" name="任意多边形 7"/>
          <p:cNvSpPr/>
          <p:nvPr/>
        </p:nvSpPr>
        <p:spPr>
          <a:xfrm rot="8100000">
            <a:off x="6435337" y="1402782"/>
            <a:ext cx="2818805" cy="2055195"/>
          </a:xfrm>
          <a:custGeom>
            <a:avLst/>
            <a:gdLst>
              <a:gd name="connsiteX0" fmla="*/ 1027597 w 2818805"/>
              <a:gd name="connsiteY0" fmla="*/ 2055195 h 2055195"/>
              <a:gd name="connsiteX1" fmla="*/ 254013 w 2818805"/>
              <a:gd name="connsiteY1" fmla="*/ 1281610 h 2055195"/>
              <a:gd name="connsiteX2" fmla="*/ 0 w 2818805"/>
              <a:gd name="connsiteY2" fmla="*/ 1027597 h 2055195"/>
              <a:gd name="connsiteX3" fmla="*/ 254013 w 2818805"/>
              <a:gd name="connsiteY3" fmla="*/ 773585 h 2055195"/>
              <a:gd name="connsiteX4" fmla="*/ 1027597 w 2818805"/>
              <a:gd name="connsiteY4" fmla="*/ 0 h 2055195"/>
              <a:gd name="connsiteX5" fmla="*/ 1281610 w 2818805"/>
              <a:gd name="connsiteY5" fmla="*/ 254013 h 2055195"/>
              <a:gd name="connsiteX6" fmla="*/ 668098 w 2818805"/>
              <a:gd name="connsiteY6" fmla="*/ 867524 h 2055195"/>
              <a:gd name="connsiteX7" fmla="*/ 2818805 w 2818805"/>
              <a:gd name="connsiteY7" fmla="*/ 867524 h 2055195"/>
              <a:gd name="connsiteX8" fmla="*/ 2818805 w 2818805"/>
              <a:gd name="connsiteY8" fmla="*/ 1187670 h 2055195"/>
              <a:gd name="connsiteX9" fmla="*/ 668098 w 2818805"/>
              <a:gd name="connsiteY9" fmla="*/ 1187670 h 2055195"/>
              <a:gd name="connsiteX10" fmla="*/ 1281610 w 2818805"/>
              <a:gd name="connsiteY10" fmla="*/ 1801182 h 205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18805" h="2055195">
                <a:moveTo>
                  <a:pt x="1027597" y="2055195"/>
                </a:moveTo>
                <a:lnTo>
                  <a:pt x="254013" y="1281610"/>
                </a:lnTo>
                <a:lnTo>
                  <a:pt x="0" y="1027597"/>
                </a:lnTo>
                <a:lnTo>
                  <a:pt x="254013" y="773585"/>
                </a:lnTo>
                <a:lnTo>
                  <a:pt x="1027597" y="0"/>
                </a:lnTo>
                <a:lnTo>
                  <a:pt x="1281610" y="254013"/>
                </a:lnTo>
                <a:lnTo>
                  <a:pt x="668098" y="867524"/>
                </a:lnTo>
                <a:lnTo>
                  <a:pt x="2818805" y="867524"/>
                </a:lnTo>
                <a:lnTo>
                  <a:pt x="2818805" y="1187670"/>
                </a:lnTo>
                <a:lnTo>
                  <a:pt x="668098" y="1187670"/>
                </a:lnTo>
                <a:lnTo>
                  <a:pt x="1281610" y="1801182"/>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任意多边形 8"/>
          <p:cNvSpPr/>
          <p:nvPr/>
        </p:nvSpPr>
        <p:spPr>
          <a:xfrm rot="8100000">
            <a:off x="4552689" y="2045041"/>
            <a:ext cx="2818805" cy="2055195"/>
          </a:xfrm>
          <a:custGeom>
            <a:avLst/>
            <a:gdLst>
              <a:gd name="connsiteX0" fmla="*/ 1027597 w 2818805"/>
              <a:gd name="connsiteY0" fmla="*/ 2055195 h 2055195"/>
              <a:gd name="connsiteX1" fmla="*/ 254013 w 2818805"/>
              <a:gd name="connsiteY1" fmla="*/ 1281610 h 2055195"/>
              <a:gd name="connsiteX2" fmla="*/ 0 w 2818805"/>
              <a:gd name="connsiteY2" fmla="*/ 1027597 h 2055195"/>
              <a:gd name="connsiteX3" fmla="*/ 254013 w 2818805"/>
              <a:gd name="connsiteY3" fmla="*/ 773585 h 2055195"/>
              <a:gd name="connsiteX4" fmla="*/ 1027597 w 2818805"/>
              <a:gd name="connsiteY4" fmla="*/ 0 h 2055195"/>
              <a:gd name="connsiteX5" fmla="*/ 1281610 w 2818805"/>
              <a:gd name="connsiteY5" fmla="*/ 254013 h 2055195"/>
              <a:gd name="connsiteX6" fmla="*/ 668098 w 2818805"/>
              <a:gd name="connsiteY6" fmla="*/ 867524 h 2055195"/>
              <a:gd name="connsiteX7" fmla="*/ 2818805 w 2818805"/>
              <a:gd name="connsiteY7" fmla="*/ 867524 h 2055195"/>
              <a:gd name="connsiteX8" fmla="*/ 2818805 w 2818805"/>
              <a:gd name="connsiteY8" fmla="*/ 1187670 h 2055195"/>
              <a:gd name="connsiteX9" fmla="*/ 668098 w 2818805"/>
              <a:gd name="connsiteY9" fmla="*/ 1187670 h 2055195"/>
              <a:gd name="connsiteX10" fmla="*/ 1281610 w 2818805"/>
              <a:gd name="connsiteY10" fmla="*/ 1801182 h 205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18805" h="2055195">
                <a:moveTo>
                  <a:pt x="1027597" y="2055195"/>
                </a:moveTo>
                <a:lnTo>
                  <a:pt x="254013" y="1281610"/>
                </a:lnTo>
                <a:lnTo>
                  <a:pt x="0" y="1027597"/>
                </a:lnTo>
                <a:lnTo>
                  <a:pt x="254013" y="773585"/>
                </a:lnTo>
                <a:lnTo>
                  <a:pt x="1027597" y="0"/>
                </a:lnTo>
                <a:lnTo>
                  <a:pt x="1281610" y="254013"/>
                </a:lnTo>
                <a:lnTo>
                  <a:pt x="668098" y="867524"/>
                </a:lnTo>
                <a:lnTo>
                  <a:pt x="2818805" y="867524"/>
                </a:lnTo>
                <a:lnTo>
                  <a:pt x="2818805" y="1187670"/>
                </a:lnTo>
                <a:lnTo>
                  <a:pt x="668098" y="1187670"/>
                </a:lnTo>
                <a:lnTo>
                  <a:pt x="1281610" y="1801182"/>
                </a:lnTo>
                <a:close/>
              </a:path>
            </a:pathLst>
          </a:cu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任意多边形 9"/>
          <p:cNvSpPr/>
          <p:nvPr/>
        </p:nvSpPr>
        <p:spPr>
          <a:xfrm rot="8100000">
            <a:off x="2670040" y="2707457"/>
            <a:ext cx="2818805" cy="2055195"/>
          </a:xfrm>
          <a:custGeom>
            <a:avLst/>
            <a:gdLst>
              <a:gd name="connsiteX0" fmla="*/ 1027597 w 2818805"/>
              <a:gd name="connsiteY0" fmla="*/ 2055195 h 2055195"/>
              <a:gd name="connsiteX1" fmla="*/ 254013 w 2818805"/>
              <a:gd name="connsiteY1" fmla="*/ 1281610 h 2055195"/>
              <a:gd name="connsiteX2" fmla="*/ 0 w 2818805"/>
              <a:gd name="connsiteY2" fmla="*/ 1027597 h 2055195"/>
              <a:gd name="connsiteX3" fmla="*/ 254013 w 2818805"/>
              <a:gd name="connsiteY3" fmla="*/ 773585 h 2055195"/>
              <a:gd name="connsiteX4" fmla="*/ 1027597 w 2818805"/>
              <a:gd name="connsiteY4" fmla="*/ 0 h 2055195"/>
              <a:gd name="connsiteX5" fmla="*/ 1281610 w 2818805"/>
              <a:gd name="connsiteY5" fmla="*/ 254013 h 2055195"/>
              <a:gd name="connsiteX6" fmla="*/ 668098 w 2818805"/>
              <a:gd name="connsiteY6" fmla="*/ 867524 h 2055195"/>
              <a:gd name="connsiteX7" fmla="*/ 2818805 w 2818805"/>
              <a:gd name="connsiteY7" fmla="*/ 867524 h 2055195"/>
              <a:gd name="connsiteX8" fmla="*/ 2818805 w 2818805"/>
              <a:gd name="connsiteY8" fmla="*/ 1187670 h 2055195"/>
              <a:gd name="connsiteX9" fmla="*/ 668098 w 2818805"/>
              <a:gd name="connsiteY9" fmla="*/ 1187670 h 2055195"/>
              <a:gd name="connsiteX10" fmla="*/ 1281610 w 2818805"/>
              <a:gd name="connsiteY10" fmla="*/ 1801182 h 205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18805" h="2055195">
                <a:moveTo>
                  <a:pt x="1027597" y="2055195"/>
                </a:moveTo>
                <a:lnTo>
                  <a:pt x="254013" y="1281610"/>
                </a:lnTo>
                <a:lnTo>
                  <a:pt x="0" y="1027597"/>
                </a:lnTo>
                <a:lnTo>
                  <a:pt x="254013" y="773585"/>
                </a:lnTo>
                <a:lnTo>
                  <a:pt x="1027597" y="0"/>
                </a:lnTo>
                <a:lnTo>
                  <a:pt x="1281610" y="254013"/>
                </a:lnTo>
                <a:lnTo>
                  <a:pt x="668098" y="867524"/>
                </a:lnTo>
                <a:lnTo>
                  <a:pt x="2818805" y="867524"/>
                </a:lnTo>
                <a:lnTo>
                  <a:pt x="2818805" y="1187670"/>
                </a:lnTo>
                <a:lnTo>
                  <a:pt x="668098" y="1187670"/>
                </a:lnTo>
                <a:lnTo>
                  <a:pt x="1281610" y="1801182"/>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1" name="任意多边形 10"/>
          <p:cNvSpPr/>
          <p:nvPr/>
        </p:nvSpPr>
        <p:spPr>
          <a:xfrm rot="8100000">
            <a:off x="801242" y="3363056"/>
            <a:ext cx="2818805" cy="2055195"/>
          </a:xfrm>
          <a:custGeom>
            <a:avLst/>
            <a:gdLst>
              <a:gd name="connsiteX0" fmla="*/ 1027597 w 2818805"/>
              <a:gd name="connsiteY0" fmla="*/ 2055195 h 2055195"/>
              <a:gd name="connsiteX1" fmla="*/ 254013 w 2818805"/>
              <a:gd name="connsiteY1" fmla="*/ 1281610 h 2055195"/>
              <a:gd name="connsiteX2" fmla="*/ 0 w 2818805"/>
              <a:gd name="connsiteY2" fmla="*/ 1027597 h 2055195"/>
              <a:gd name="connsiteX3" fmla="*/ 254013 w 2818805"/>
              <a:gd name="connsiteY3" fmla="*/ 773585 h 2055195"/>
              <a:gd name="connsiteX4" fmla="*/ 1027597 w 2818805"/>
              <a:gd name="connsiteY4" fmla="*/ 0 h 2055195"/>
              <a:gd name="connsiteX5" fmla="*/ 1281610 w 2818805"/>
              <a:gd name="connsiteY5" fmla="*/ 254013 h 2055195"/>
              <a:gd name="connsiteX6" fmla="*/ 668098 w 2818805"/>
              <a:gd name="connsiteY6" fmla="*/ 867524 h 2055195"/>
              <a:gd name="connsiteX7" fmla="*/ 2818805 w 2818805"/>
              <a:gd name="connsiteY7" fmla="*/ 867524 h 2055195"/>
              <a:gd name="connsiteX8" fmla="*/ 2818805 w 2818805"/>
              <a:gd name="connsiteY8" fmla="*/ 1187670 h 2055195"/>
              <a:gd name="connsiteX9" fmla="*/ 668098 w 2818805"/>
              <a:gd name="connsiteY9" fmla="*/ 1187670 h 2055195"/>
              <a:gd name="connsiteX10" fmla="*/ 1281610 w 2818805"/>
              <a:gd name="connsiteY10" fmla="*/ 1801182 h 205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18805" h="2055195">
                <a:moveTo>
                  <a:pt x="1027597" y="2055195"/>
                </a:moveTo>
                <a:lnTo>
                  <a:pt x="254013" y="1281610"/>
                </a:lnTo>
                <a:lnTo>
                  <a:pt x="0" y="1027597"/>
                </a:lnTo>
                <a:lnTo>
                  <a:pt x="254013" y="773585"/>
                </a:lnTo>
                <a:lnTo>
                  <a:pt x="1027597" y="0"/>
                </a:lnTo>
                <a:lnTo>
                  <a:pt x="1281610" y="254013"/>
                </a:lnTo>
                <a:lnTo>
                  <a:pt x="668098" y="867524"/>
                </a:lnTo>
                <a:lnTo>
                  <a:pt x="2818805" y="867524"/>
                </a:lnTo>
                <a:lnTo>
                  <a:pt x="2818805" y="1187670"/>
                </a:lnTo>
                <a:lnTo>
                  <a:pt x="668098" y="1187670"/>
                </a:lnTo>
                <a:lnTo>
                  <a:pt x="1281610" y="1801182"/>
                </a:lnTo>
                <a:close/>
              </a:path>
            </a:pathLst>
          </a:cu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2709487" y="4767018"/>
            <a:ext cx="740693" cy="1066800"/>
          </a:xfrm>
          <a:prstGeom prst="rect">
            <a:avLst/>
          </a:prstGeom>
          <a:noFill/>
        </p:spPr>
        <p:txBody>
          <a:bodyPr wrap="square" rtlCol="0">
            <a:spAutoFit/>
          </a:bodyPr>
          <a:lstStyle/>
          <a:p>
            <a:r>
              <a:rPr lang="en-US" altLang="zh-CN" sz="3200" b="1">
                <a:solidFill>
                  <a:schemeClr val="tx1">
                    <a:lumMod val="75000"/>
                    <a:lumOff val="25000"/>
                  </a:schemeClr>
                </a:solidFill>
                <a:latin typeface="FuturaBookC" pitchFamily="2" charset="-52"/>
              </a:rPr>
              <a:t>01</a:t>
            </a:r>
          </a:p>
        </p:txBody>
      </p:sp>
      <p:sp>
        <p:nvSpPr>
          <p:cNvPr id="13" name="文本框 12"/>
          <p:cNvSpPr txBox="1"/>
          <p:nvPr/>
        </p:nvSpPr>
        <p:spPr>
          <a:xfrm>
            <a:off x="4580597" y="4115570"/>
            <a:ext cx="740693" cy="1066800"/>
          </a:xfrm>
          <a:prstGeom prst="rect">
            <a:avLst/>
          </a:prstGeom>
          <a:noFill/>
        </p:spPr>
        <p:txBody>
          <a:bodyPr wrap="square" rtlCol="0">
            <a:spAutoFit/>
          </a:bodyPr>
          <a:lstStyle/>
          <a:p>
            <a:r>
              <a:rPr lang="en-US" altLang="zh-CN" sz="3200" b="1">
                <a:solidFill>
                  <a:schemeClr val="tx1">
                    <a:lumMod val="75000"/>
                    <a:lumOff val="25000"/>
                  </a:schemeClr>
                </a:solidFill>
                <a:latin typeface="FuturaBookC" pitchFamily="2" charset="-52"/>
              </a:rPr>
              <a:t>02</a:t>
            </a:r>
          </a:p>
        </p:txBody>
      </p:sp>
      <p:sp>
        <p:nvSpPr>
          <p:cNvPr id="14" name="文本框 13"/>
          <p:cNvSpPr txBox="1"/>
          <p:nvPr/>
        </p:nvSpPr>
        <p:spPr>
          <a:xfrm>
            <a:off x="6478974" y="3427885"/>
            <a:ext cx="740693" cy="1066800"/>
          </a:xfrm>
          <a:prstGeom prst="rect">
            <a:avLst/>
          </a:prstGeom>
          <a:noFill/>
        </p:spPr>
        <p:txBody>
          <a:bodyPr wrap="square" rtlCol="0">
            <a:spAutoFit/>
          </a:bodyPr>
          <a:lstStyle/>
          <a:p>
            <a:r>
              <a:rPr lang="en-US" altLang="zh-CN" sz="3200" b="1">
                <a:solidFill>
                  <a:schemeClr val="tx1">
                    <a:lumMod val="75000"/>
                    <a:lumOff val="25000"/>
                  </a:schemeClr>
                </a:solidFill>
                <a:latin typeface="FuturaBookC" pitchFamily="2" charset="-52"/>
              </a:rPr>
              <a:t>03</a:t>
            </a:r>
          </a:p>
        </p:txBody>
      </p:sp>
      <p:sp>
        <p:nvSpPr>
          <p:cNvPr id="15" name="文本框 14"/>
          <p:cNvSpPr txBox="1"/>
          <p:nvPr/>
        </p:nvSpPr>
        <p:spPr>
          <a:xfrm>
            <a:off x="8364737" y="2788261"/>
            <a:ext cx="740693" cy="1066800"/>
          </a:xfrm>
          <a:prstGeom prst="rect">
            <a:avLst/>
          </a:prstGeom>
          <a:noFill/>
        </p:spPr>
        <p:txBody>
          <a:bodyPr wrap="square" rtlCol="0">
            <a:spAutoFit/>
          </a:bodyPr>
          <a:lstStyle/>
          <a:p>
            <a:r>
              <a:rPr lang="en-US" altLang="zh-CN" sz="3200" b="1">
                <a:solidFill>
                  <a:schemeClr val="tx1">
                    <a:lumMod val="75000"/>
                    <a:lumOff val="25000"/>
                  </a:schemeClr>
                </a:solidFill>
                <a:latin typeface="FuturaBookC" pitchFamily="2" charset="-52"/>
              </a:rPr>
              <a:t>04</a:t>
            </a:r>
          </a:p>
        </p:txBody>
      </p:sp>
      <p:sp>
        <p:nvSpPr>
          <p:cNvPr id="16" name="文本框 15"/>
          <p:cNvSpPr txBox="1"/>
          <p:nvPr/>
        </p:nvSpPr>
        <p:spPr>
          <a:xfrm>
            <a:off x="8386183" y="3427885"/>
            <a:ext cx="2225040" cy="335280"/>
          </a:xfrm>
          <a:prstGeom prst="rect">
            <a:avLst/>
          </a:prstGeom>
          <a:noFill/>
        </p:spPr>
        <p:txBody>
          <a:bodyPr wrap="square" rtlCol="0">
            <a:spAutoFit/>
          </a:bodyPr>
          <a:lstStyle/>
          <a:p>
            <a:r>
              <a:rPr lang="zh-CN" altLang="en-US" sz="1600" dirty="0">
                <a:solidFill>
                  <a:schemeClr val="tx1">
                    <a:lumMod val="75000"/>
                    <a:lumOff val="25000"/>
                  </a:schemeClr>
                </a:solidFill>
                <a:latin typeface="FZZhengHeiS-DB-GB" panose="02000000000000000000" pitchFamily="2" charset="0"/>
                <a:ea typeface="FZZhengHeiS-DB-GB" panose="02000000000000000000" pitchFamily="2" charset="0"/>
              </a:rPr>
              <a:t>用户体验</a:t>
            </a:r>
          </a:p>
        </p:txBody>
      </p:sp>
      <p:sp>
        <p:nvSpPr>
          <p:cNvPr id="17" name="文本框 16"/>
          <p:cNvSpPr txBox="1"/>
          <p:nvPr/>
        </p:nvSpPr>
        <p:spPr>
          <a:xfrm>
            <a:off x="8386183" y="3783324"/>
            <a:ext cx="2865120" cy="276999"/>
          </a:xfrm>
          <a:prstGeom prst="rect">
            <a:avLst/>
          </a:prstGeom>
          <a:noFill/>
        </p:spPr>
        <p:txBody>
          <a:bodyPr wrap="square" rtlCol="0">
            <a:spAutoFit/>
          </a:bodyPr>
          <a:lstStyle/>
          <a:p>
            <a:r>
              <a:rPr lang="zh-CN" altLang="en-US" sz="1200" dirty="0">
                <a:solidFill>
                  <a:schemeClr val="tx1">
                    <a:lumMod val="75000"/>
                    <a:lumOff val="25000"/>
                  </a:schemeClr>
                </a:solidFill>
                <a:latin typeface="FZZhengHeiS-DB-GB" panose="02000000000000000000" pitchFamily="2" charset="0"/>
                <a:ea typeface="FZZhengHeiS-DB-GB" panose="02000000000000000000" pitchFamily="2" charset="0"/>
              </a:rPr>
              <a:t>保障广大用户群体最终的使用体验</a:t>
            </a:r>
          </a:p>
        </p:txBody>
      </p:sp>
      <p:sp>
        <p:nvSpPr>
          <p:cNvPr id="18" name="文本框 17"/>
          <p:cNvSpPr txBox="1"/>
          <p:nvPr/>
        </p:nvSpPr>
        <p:spPr>
          <a:xfrm>
            <a:off x="6529137" y="4110446"/>
            <a:ext cx="2225040" cy="335280"/>
          </a:xfrm>
          <a:prstGeom prst="rect">
            <a:avLst/>
          </a:prstGeom>
          <a:noFill/>
        </p:spPr>
        <p:txBody>
          <a:bodyPr wrap="square" rtlCol="0">
            <a:spAutoFit/>
          </a:bodyPr>
          <a:lstStyle/>
          <a:p>
            <a:r>
              <a:rPr lang="zh-CN" altLang="en-US" sz="1600" dirty="0">
                <a:solidFill>
                  <a:schemeClr val="tx1">
                    <a:lumMod val="75000"/>
                    <a:lumOff val="25000"/>
                  </a:schemeClr>
                </a:solidFill>
                <a:latin typeface="FZZhengHeiS-DB-GB" panose="02000000000000000000" pitchFamily="2" charset="0"/>
                <a:ea typeface="FZZhengHeiS-DB-GB" panose="02000000000000000000" pitchFamily="2" charset="0"/>
              </a:rPr>
              <a:t>专项验证</a:t>
            </a:r>
          </a:p>
        </p:txBody>
      </p:sp>
      <p:sp>
        <p:nvSpPr>
          <p:cNvPr id="19" name="文本框 18"/>
          <p:cNvSpPr txBox="1"/>
          <p:nvPr/>
        </p:nvSpPr>
        <p:spPr>
          <a:xfrm>
            <a:off x="6529137" y="4465886"/>
            <a:ext cx="3094923" cy="646331"/>
          </a:xfrm>
          <a:prstGeom prst="rect">
            <a:avLst/>
          </a:prstGeom>
          <a:noFill/>
        </p:spPr>
        <p:txBody>
          <a:bodyPr wrap="square" rtlCol="0">
            <a:spAutoFit/>
          </a:bodyPr>
          <a:lstStyle/>
          <a:p>
            <a:pPr algn="just"/>
            <a:r>
              <a:rPr lang="zh-CN" altLang="en-US" sz="1200" dirty="0">
                <a:solidFill>
                  <a:schemeClr val="tx1">
                    <a:lumMod val="85000"/>
                    <a:lumOff val="15000"/>
                  </a:schemeClr>
                </a:solidFill>
                <a:latin typeface="FZZhengHeiS-DB-GB" panose="02000000000000000000" pitchFamily="2" charset="0"/>
                <a:ea typeface="FZZhengHeiS-DB-GB" panose="02000000000000000000" pitchFamily="2" charset="0"/>
              </a:rPr>
              <a:t>性能：并发访问、长时间运行的稳定性表现</a:t>
            </a:r>
            <a:endParaRPr lang="en-US" altLang="zh-CN" sz="1200" dirty="0">
              <a:solidFill>
                <a:schemeClr val="tx1">
                  <a:lumMod val="85000"/>
                  <a:lumOff val="15000"/>
                </a:schemeClr>
              </a:solidFill>
              <a:latin typeface="FZZhengHeiS-DB-GB" panose="02000000000000000000" pitchFamily="2" charset="0"/>
              <a:ea typeface="FZZhengHeiS-DB-GB" panose="02000000000000000000" pitchFamily="2" charset="0"/>
            </a:endParaRPr>
          </a:p>
          <a:p>
            <a:pPr algn="just"/>
            <a:r>
              <a:rPr lang="zh-CN" altLang="en-US" sz="1200" dirty="0">
                <a:solidFill>
                  <a:schemeClr val="tx1">
                    <a:lumMod val="85000"/>
                    <a:lumOff val="15000"/>
                  </a:schemeClr>
                </a:solidFill>
                <a:latin typeface="FZZhengHeiS-DB-GB" panose="02000000000000000000" pitchFamily="2" charset="0"/>
                <a:ea typeface="FZZhengHeiS-DB-GB" panose="02000000000000000000" pitchFamily="2" charset="0"/>
              </a:rPr>
              <a:t>兼容：验证跨机型的应用表现一致</a:t>
            </a:r>
          </a:p>
          <a:p>
            <a:pPr algn="just"/>
            <a:endParaRPr lang="zh-CN" altLang="en-US" sz="12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sp>
        <p:nvSpPr>
          <p:cNvPr id="20" name="文本框 19"/>
          <p:cNvSpPr txBox="1"/>
          <p:nvPr/>
        </p:nvSpPr>
        <p:spPr>
          <a:xfrm>
            <a:off x="4612214" y="4751964"/>
            <a:ext cx="2225040" cy="335280"/>
          </a:xfrm>
          <a:prstGeom prst="rect">
            <a:avLst/>
          </a:prstGeom>
          <a:noFill/>
        </p:spPr>
        <p:txBody>
          <a:bodyPr wrap="square" rtlCol="0">
            <a:spAutoFit/>
          </a:bodyPr>
          <a:lstStyle/>
          <a:p>
            <a:r>
              <a:rPr lang="zh-CN" altLang="en-US" sz="1600" dirty="0">
                <a:solidFill>
                  <a:schemeClr val="tx1">
                    <a:lumMod val="75000"/>
                    <a:lumOff val="25000"/>
                  </a:schemeClr>
                </a:solidFill>
                <a:latin typeface="FZZhengHeiS-DB-GB" panose="02000000000000000000" pitchFamily="2" charset="0"/>
                <a:ea typeface="FZZhengHeiS-DB-GB" panose="02000000000000000000" pitchFamily="2" charset="0"/>
              </a:rPr>
              <a:t>应用功能</a:t>
            </a:r>
          </a:p>
        </p:txBody>
      </p:sp>
      <p:sp>
        <p:nvSpPr>
          <p:cNvPr id="21" name="文本框 20"/>
          <p:cNvSpPr txBox="1"/>
          <p:nvPr/>
        </p:nvSpPr>
        <p:spPr>
          <a:xfrm>
            <a:off x="4612214" y="5107405"/>
            <a:ext cx="2901106" cy="461665"/>
          </a:xfrm>
          <a:prstGeom prst="rect">
            <a:avLst/>
          </a:prstGeom>
          <a:noFill/>
        </p:spPr>
        <p:txBody>
          <a:bodyPr wrap="square" rtlCol="0">
            <a:spAutoFit/>
          </a:bodyPr>
          <a:lstStyle/>
          <a:p>
            <a:pPr algn="just"/>
            <a:r>
              <a:rPr lang="zh-CN" altLang="en-US" sz="1200" dirty="0">
                <a:solidFill>
                  <a:schemeClr val="tx1">
                    <a:lumMod val="85000"/>
                    <a:lumOff val="15000"/>
                  </a:schemeClr>
                </a:solidFill>
                <a:latin typeface="FZZhengHeiS-DB-GB" panose="02000000000000000000" pitchFamily="2" charset="0"/>
                <a:ea typeface="FZZhengHeiS-DB-GB" panose="02000000000000000000" pitchFamily="2" charset="0"/>
              </a:rPr>
              <a:t>项目迭代的版本需求中，确保软件应用功能是否符合预期</a:t>
            </a:r>
          </a:p>
        </p:txBody>
      </p:sp>
      <p:sp>
        <p:nvSpPr>
          <p:cNvPr id="22" name="文本框 21"/>
          <p:cNvSpPr txBox="1"/>
          <p:nvPr/>
        </p:nvSpPr>
        <p:spPr>
          <a:xfrm>
            <a:off x="2723493" y="5458273"/>
            <a:ext cx="2225040" cy="335280"/>
          </a:xfrm>
          <a:prstGeom prst="rect">
            <a:avLst/>
          </a:prstGeom>
          <a:noFill/>
        </p:spPr>
        <p:txBody>
          <a:bodyPr wrap="square" rtlCol="0">
            <a:spAutoFit/>
          </a:bodyPr>
          <a:lstStyle/>
          <a:p>
            <a:r>
              <a:rPr lang="zh-CN" altLang="en-US" sz="1600" dirty="0">
                <a:solidFill>
                  <a:schemeClr val="tx1">
                    <a:lumMod val="75000"/>
                    <a:lumOff val="25000"/>
                  </a:schemeClr>
                </a:solidFill>
                <a:latin typeface="FZZhengHeiS-DB-GB" panose="02000000000000000000" pitchFamily="2" charset="0"/>
                <a:ea typeface="FZZhengHeiS-DB-GB" panose="02000000000000000000" pitchFamily="2" charset="0"/>
              </a:rPr>
              <a:t>产品需求</a:t>
            </a:r>
          </a:p>
        </p:txBody>
      </p:sp>
      <p:sp>
        <p:nvSpPr>
          <p:cNvPr id="23" name="文本框 22"/>
          <p:cNvSpPr txBox="1"/>
          <p:nvPr/>
        </p:nvSpPr>
        <p:spPr>
          <a:xfrm>
            <a:off x="2723493" y="5813714"/>
            <a:ext cx="2694327" cy="461665"/>
          </a:xfrm>
          <a:prstGeom prst="rect">
            <a:avLst/>
          </a:prstGeom>
          <a:noFill/>
        </p:spPr>
        <p:txBody>
          <a:bodyPr wrap="square" rtlCol="0">
            <a:spAutoFit/>
          </a:bodyPr>
          <a:lstStyle/>
          <a:p>
            <a:pPr algn="just"/>
            <a:r>
              <a:rPr lang="zh-CN" altLang="en-US" sz="1200" dirty="0">
                <a:solidFill>
                  <a:schemeClr val="tx1">
                    <a:lumMod val="85000"/>
                    <a:lumOff val="15000"/>
                  </a:schemeClr>
                </a:solidFill>
                <a:latin typeface="FZZhengHeiS-DB-GB" panose="02000000000000000000" pitchFamily="2" charset="0"/>
                <a:ea typeface="FZZhengHeiS-DB-GB" panose="02000000000000000000" pitchFamily="2" charset="0"/>
              </a:rPr>
              <a:t>根据市场需求和老板想法进行产品设计，评审后交由开发实现</a:t>
            </a:r>
          </a:p>
        </p:txBody>
      </p:sp>
      <p:pic>
        <p:nvPicPr>
          <p:cNvPr id="2" name="图片 1">
            <a:extLst>
              <a:ext uri="{FF2B5EF4-FFF2-40B4-BE49-F238E27FC236}">
                <a16:creationId xmlns:a16="http://schemas.microsoft.com/office/drawing/2014/main" id="{B36EB51B-4D35-ECF0-FC61-D8FC533814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16382" y="515194"/>
            <a:ext cx="834225" cy="834225"/>
          </a:xfrm>
          <a:prstGeom prst="rect">
            <a:avLst/>
          </a:prstGeom>
        </p:spPr>
      </p:pic>
    </p:spTree>
    <p:extLst>
      <p:ext uri="{BB962C8B-B14F-4D97-AF65-F5344CB8AC3E}">
        <p14:creationId xmlns:p14="http://schemas.microsoft.com/office/powerpoint/2010/main" val="3145760471"/>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03652" y="409927"/>
            <a:ext cx="2185265" cy="518160"/>
          </a:xfrm>
          <a:prstGeom prst="rect">
            <a:avLst/>
          </a:prstGeom>
          <a:noFill/>
        </p:spPr>
        <p:txBody>
          <a:bodyPr wrap="square" rtlCol="0">
            <a:spAutoFit/>
          </a:bodyPr>
          <a:lstStyle/>
          <a:p>
            <a:pPr algn="ctr"/>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测试流程</a:t>
            </a:r>
          </a:p>
        </p:txBody>
      </p:sp>
      <p:sp>
        <p:nvSpPr>
          <p:cNvPr id="5" name="文本框 4"/>
          <p:cNvSpPr txBox="1"/>
          <p:nvPr/>
        </p:nvSpPr>
        <p:spPr>
          <a:xfrm>
            <a:off x="904649" y="840662"/>
            <a:ext cx="2532686" cy="307777"/>
          </a:xfrm>
          <a:prstGeom prst="rect">
            <a:avLst/>
          </a:prstGeom>
          <a:noFill/>
        </p:spPr>
        <p:txBody>
          <a:bodyPr wrap="square" rtlCol="0">
            <a:spAutoFit/>
          </a:bodyPr>
          <a:lstStyle/>
          <a:p>
            <a:pPr algn="dist"/>
            <a:r>
              <a:rPr lang="zh-CN" altLang="en-US" sz="1400" dirty="0">
                <a:solidFill>
                  <a:schemeClr val="tx1">
                    <a:lumMod val="85000"/>
                    <a:lumOff val="15000"/>
                  </a:schemeClr>
                </a:solidFill>
                <a:latin typeface="FuturaBookC" charset="-52"/>
                <a:ea typeface="微软雅黑" panose="020B0503020204020204" pitchFamily="34" charset="-122"/>
              </a:rPr>
              <a:t>测试工作包含哪几方面？</a:t>
            </a:r>
            <a:endParaRPr lang="en-US" altLang="zh-CN"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flipH="1">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163586" y="1844675"/>
            <a:ext cx="805458" cy="167753"/>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692398" y="1844675"/>
            <a:ext cx="805458" cy="167753"/>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221210" y="1860717"/>
            <a:ext cx="805458" cy="167753"/>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750022" y="1844675"/>
            <a:ext cx="805458" cy="167753"/>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163586" y="1941093"/>
            <a:ext cx="2273750" cy="35538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315534" y="3145858"/>
            <a:ext cx="2225040" cy="36576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rgbClr val="1C4885"/>
                </a:solidFill>
                <a:effectLst/>
              </a:rPr>
              <a:t>测试计划</a:t>
            </a:r>
            <a:r>
              <a:rPr lang="en-US" altLang="zh-CN" dirty="0">
                <a:solidFill>
                  <a:srgbClr val="1C4885"/>
                </a:solidFill>
                <a:effectLst/>
              </a:rPr>
              <a:t>+</a:t>
            </a:r>
            <a:r>
              <a:rPr lang="zh-CN" altLang="en-US" dirty="0">
                <a:solidFill>
                  <a:srgbClr val="1C4885"/>
                </a:solidFill>
                <a:effectLst/>
              </a:rPr>
              <a:t>方案</a:t>
            </a:r>
          </a:p>
        </p:txBody>
      </p:sp>
      <p:sp>
        <p:nvSpPr>
          <p:cNvPr id="14" name="文本框 13"/>
          <p:cNvSpPr txBox="1"/>
          <p:nvPr/>
        </p:nvSpPr>
        <p:spPr>
          <a:xfrm>
            <a:off x="1315534" y="3700395"/>
            <a:ext cx="1944660" cy="1600438"/>
          </a:xfrm>
          <a:prstGeom prst="rect">
            <a:avLst/>
          </a:prstGeom>
          <a:noFill/>
        </p:spPr>
        <p:txBody>
          <a:bodyPr wrap="square" rtlCol="0">
            <a:spAutoFit/>
          </a:bodyPr>
          <a:lstStyle/>
          <a:p>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待需求评审完成，开发进行时，测试同步进行测试计划和方案的指定和编写，确定测试策略、具体流程安排、资源调配和测试关注点等</a:t>
            </a:r>
          </a:p>
        </p:txBody>
      </p:sp>
      <p:cxnSp>
        <p:nvCxnSpPr>
          <p:cNvPr id="15" name="直接连接符 14"/>
          <p:cNvCxnSpPr/>
          <p:nvPr/>
        </p:nvCxnSpPr>
        <p:spPr>
          <a:xfrm>
            <a:off x="1418648" y="3586394"/>
            <a:ext cx="26516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3692398" y="1941093"/>
            <a:ext cx="2273750" cy="35538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844346" y="3145858"/>
            <a:ext cx="2225040" cy="36576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rgbClr val="1C4885"/>
                </a:solidFill>
                <a:effectLst/>
              </a:rPr>
              <a:t>用例设计</a:t>
            </a:r>
          </a:p>
        </p:txBody>
      </p:sp>
      <p:sp>
        <p:nvSpPr>
          <p:cNvPr id="18" name="文本框 17"/>
          <p:cNvSpPr txBox="1"/>
          <p:nvPr/>
        </p:nvSpPr>
        <p:spPr>
          <a:xfrm>
            <a:off x="3844346" y="3700395"/>
            <a:ext cx="1944660" cy="1384995"/>
          </a:xfrm>
          <a:prstGeom prst="rect">
            <a:avLst/>
          </a:prstGeom>
          <a:noFill/>
        </p:spPr>
        <p:txBody>
          <a:bodyPr wrap="square" rtlCol="0">
            <a:spAutoFit/>
          </a:bodyPr>
          <a:lstStyle/>
          <a:p>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对应需求文档拆解分析，测试同学需要从多维度展开思考以编写规范的测试用例进行应用质量保障的测试点覆盖</a:t>
            </a:r>
          </a:p>
        </p:txBody>
      </p:sp>
      <p:cxnSp>
        <p:nvCxnSpPr>
          <p:cNvPr id="19" name="直接连接符 18"/>
          <p:cNvCxnSpPr/>
          <p:nvPr/>
        </p:nvCxnSpPr>
        <p:spPr>
          <a:xfrm>
            <a:off x="3947460" y="3586394"/>
            <a:ext cx="26516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6221210" y="1951404"/>
            <a:ext cx="2273750" cy="35538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373158" y="3156169"/>
            <a:ext cx="2225040" cy="36576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rgbClr val="1C4885"/>
                </a:solidFill>
                <a:effectLst/>
              </a:rPr>
              <a:t>测试执行</a:t>
            </a:r>
          </a:p>
        </p:txBody>
      </p:sp>
      <p:sp>
        <p:nvSpPr>
          <p:cNvPr id="22" name="文本框 21"/>
          <p:cNvSpPr txBox="1"/>
          <p:nvPr/>
        </p:nvSpPr>
        <p:spPr>
          <a:xfrm>
            <a:off x="6373158" y="3710706"/>
            <a:ext cx="1944660" cy="1384995"/>
          </a:xfrm>
          <a:prstGeom prst="rect">
            <a:avLst/>
          </a:prstGeom>
          <a:noFill/>
        </p:spPr>
        <p:txBody>
          <a:bodyPr wrap="square" rtlCol="0">
            <a:spAutoFit/>
          </a:bodyPr>
          <a:lstStyle/>
          <a:p>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待开发完成后进行需求提测，结合前期编写的计划方案搭建测试环境，准备测试数据，开展用例执行工作以及专项测试验证</a:t>
            </a:r>
          </a:p>
        </p:txBody>
      </p:sp>
      <p:cxnSp>
        <p:nvCxnSpPr>
          <p:cNvPr id="23" name="直接连接符 22"/>
          <p:cNvCxnSpPr/>
          <p:nvPr/>
        </p:nvCxnSpPr>
        <p:spPr>
          <a:xfrm>
            <a:off x="6476272" y="3596705"/>
            <a:ext cx="26516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8750022" y="1932218"/>
            <a:ext cx="2273750" cy="35538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901969" y="3136983"/>
            <a:ext cx="2225040" cy="36576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rgbClr val="1C4885"/>
                </a:solidFill>
                <a:effectLst/>
              </a:rPr>
              <a:t>报告汇总</a:t>
            </a:r>
          </a:p>
        </p:txBody>
      </p:sp>
      <p:sp>
        <p:nvSpPr>
          <p:cNvPr id="26" name="文本框 25"/>
          <p:cNvSpPr txBox="1"/>
          <p:nvPr/>
        </p:nvSpPr>
        <p:spPr>
          <a:xfrm>
            <a:off x="8901969" y="3691521"/>
            <a:ext cx="1944660" cy="1384995"/>
          </a:xfrm>
          <a:prstGeom prst="rect">
            <a:avLst/>
          </a:prstGeom>
          <a:noFill/>
        </p:spPr>
        <p:txBody>
          <a:bodyPr wrap="square" rtlCol="0">
            <a:spAutoFit/>
          </a:bodyPr>
          <a:lstStyle/>
          <a:p>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经过不同测试环境的验证和发布后，完成缺陷闭环并进行执行报告的汇总，形成可视化的数据看板以复盘本次测试工作</a:t>
            </a:r>
          </a:p>
        </p:txBody>
      </p:sp>
      <p:cxnSp>
        <p:nvCxnSpPr>
          <p:cNvPr id="27" name="直接连接符 26"/>
          <p:cNvCxnSpPr/>
          <p:nvPr/>
        </p:nvCxnSpPr>
        <p:spPr>
          <a:xfrm>
            <a:off x="9005084" y="3577519"/>
            <a:ext cx="26516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7346" y="2197634"/>
            <a:ext cx="762348" cy="762348"/>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8534" y="2197634"/>
            <a:ext cx="762348" cy="762348"/>
          </a:xfrm>
          <a:prstGeom prst="rect">
            <a:avLst/>
          </a:prstGeom>
        </p:spPr>
      </p:pic>
      <p:pic>
        <p:nvPicPr>
          <p:cNvPr id="32" name="图片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59722" y="2197634"/>
            <a:ext cx="762348" cy="762348"/>
          </a:xfrm>
          <a:prstGeom prst="rect">
            <a:avLst/>
          </a:prstGeom>
        </p:spPr>
      </p:pic>
      <p:pic>
        <p:nvPicPr>
          <p:cNvPr id="33" name="图片 3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0910" y="2197634"/>
            <a:ext cx="762348" cy="762348"/>
          </a:xfrm>
          <a:prstGeom prst="rect">
            <a:avLst/>
          </a:prstGeom>
        </p:spPr>
      </p:pic>
      <p:pic>
        <p:nvPicPr>
          <p:cNvPr id="28" name="图片 27">
            <a:extLst>
              <a:ext uri="{FF2B5EF4-FFF2-40B4-BE49-F238E27FC236}">
                <a16:creationId xmlns:a16="http://schemas.microsoft.com/office/drawing/2014/main" id="{63C08109-38B5-75F4-A706-D8E03AA1200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709896" y="356212"/>
            <a:ext cx="834225" cy="834225"/>
          </a:xfrm>
          <a:prstGeom prst="rect">
            <a:avLst/>
          </a:prstGeom>
        </p:spPr>
      </p:pic>
    </p:spTree>
    <p:extLst>
      <p:ext uri="{BB962C8B-B14F-4D97-AF65-F5344CB8AC3E}">
        <p14:creationId xmlns:p14="http://schemas.microsoft.com/office/powerpoint/2010/main" val="2628810231"/>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CFD38824-3F27-979C-F4F5-676B268A4057}"/>
              </a:ext>
            </a:extLst>
          </p:cNvPr>
          <p:cNvPicPr>
            <a:picLocks noChangeAspect="1"/>
          </p:cNvPicPr>
          <p:nvPr/>
        </p:nvPicPr>
        <p:blipFill>
          <a:blip r:embed="rId3" cstate="print">
            <a:extLst>
              <a:ext uri="{28A0092B-C50C-407E-A947-70E740481C1C}">
                <a14:useLocalDpi xmlns:a14="http://schemas.microsoft.com/office/drawing/2010/main" val="0"/>
              </a:ext>
            </a:extLst>
          </a:blip>
          <a:srcRect t="22055"/>
          <a:stretch>
            <a:fillRect/>
          </a:stretch>
        </p:blipFill>
        <p:spPr>
          <a:xfrm>
            <a:off x="1260137" y="1666134"/>
            <a:ext cx="3914353" cy="4069615"/>
          </a:xfrm>
          <a:prstGeom prst="rect">
            <a:avLst/>
          </a:prstGeom>
        </p:spPr>
      </p:pic>
      <p:sp>
        <p:nvSpPr>
          <p:cNvPr id="4" name="文本框 3"/>
          <p:cNvSpPr txBox="1"/>
          <p:nvPr/>
        </p:nvSpPr>
        <p:spPr>
          <a:xfrm>
            <a:off x="603652" y="409927"/>
            <a:ext cx="2185266" cy="518160"/>
          </a:xfrm>
          <a:prstGeom prst="rect">
            <a:avLst/>
          </a:prstGeom>
          <a:noFill/>
        </p:spPr>
        <p:txBody>
          <a:bodyPr wrap="square" rtlCol="0">
            <a:spAutoFit/>
          </a:bodyPr>
          <a:lstStyle/>
          <a:p>
            <a:pPr algn="ctr"/>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设计意义</a:t>
            </a:r>
          </a:p>
        </p:txBody>
      </p:sp>
      <p:sp>
        <p:nvSpPr>
          <p:cNvPr id="5" name="文本框 4"/>
          <p:cNvSpPr txBox="1"/>
          <p:nvPr/>
        </p:nvSpPr>
        <p:spPr>
          <a:xfrm>
            <a:off x="904649" y="840662"/>
            <a:ext cx="2185263" cy="307777"/>
          </a:xfrm>
          <a:prstGeom prst="rect">
            <a:avLst/>
          </a:prstGeom>
          <a:noFill/>
        </p:spPr>
        <p:txBody>
          <a:bodyPr wrap="square" rtlCol="0">
            <a:spAutoFit/>
          </a:bodyPr>
          <a:lstStyle/>
          <a:p>
            <a:pPr algn="dist"/>
            <a:r>
              <a:rPr lang="zh-CN" altLang="en-US" sz="1400" dirty="0">
                <a:solidFill>
                  <a:schemeClr val="tx1">
                    <a:lumMod val="85000"/>
                    <a:lumOff val="15000"/>
                  </a:schemeClr>
                </a:solidFill>
                <a:latin typeface="FuturaBookC" charset="-52"/>
                <a:ea typeface="微软雅黑" panose="020B0503020204020204" pitchFamily="34" charset="-122"/>
              </a:rPr>
              <a:t>本设计的出发点是什么</a:t>
            </a:r>
            <a:endParaRPr lang="en-US" altLang="zh-CN"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flipH="1">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6177683" y="1666134"/>
            <a:ext cx="1362525" cy="988578"/>
            <a:chOff x="6177683" y="1666134"/>
            <a:chExt cx="1362525" cy="988578"/>
          </a:xfrm>
          <a:solidFill>
            <a:srgbClr val="1C4885"/>
          </a:solidFill>
        </p:grpSpPr>
        <p:sp>
          <p:nvSpPr>
            <p:cNvPr id="28" name="矩形 27"/>
            <p:cNvSpPr/>
            <p:nvPr/>
          </p:nvSpPr>
          <p:spPr>
            <a:xfrm rot="5400000">
              <a:off x="5743333" y="2100484"/>
              <a:ext cx="988578" cy="1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6297561" y="1666134"/>
              <a:ext cx="1242647" cy="1036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矩形 30"/>
          <p:cNvSpPr/>
          <p:nvPr/>
        </p:nvSpPr>
        <p:spPr>
          <a:xfrm>
            <a:off x="6297560" y="1769806"/>
            <a:ext cx="4842879" cy="11503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297560" y="3210569"/>
            <a:ext cx="4842879" cy="11503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6297560" y="4595640"/>
            <a:ext cx="4842879" cy="11503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a:off x="6177683" y="3078968"/>
            <a:ext cx="1362525" cy="988578"/>
            <a:chOff x="6177683" y="1666134"/>
            <a:chExt cx="1362525" cy="988578"/>
          </a:xfrm>
          <a:solidFill>
            <a:srgbClr val="1C4885"/>
          </a:solidFill>
        </p:grpSpPr>
        <p:sp>
          <p:nvSpPr>
            <p:cNvPr id="35" name="矩形 34"/>
            <p:cNvSpPr/>
            <p:nvPr/>
          </p:nvSpPr>
          <p:spPr>
            <a:xfrm rot="5400000">
              <a:off x="5743333" y="2100484"/>
              <a:ext cx="988578" cy="1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6297561" y="1666134"/>
              <a:ext cx="1242647" cy="1036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p:nvGrpSpPr>
        <p:grpSpPr>
          <a:xfrm>
            <a:off x="6177683" y="4497549"/>
            <a:ext cx="1362525" cy="988578"/>
            <a:chOff x="6177683" y="1666134"/>
            <a:chExt cx="1362525" cy="988578"/>
          </a:xfrm>
          <a:solidFill>
            <a:srgbClr val="1C4885"/>
          </a:solidFill>
        </p:grpSpPr>
        <p:sp>
          <p:nvSpPr>
            <p:cNvPr id="38" name="矩形 37"/>
            <p:cNvSpPr/>
            <p:nvPr/>
          </p:nvSpPr>
          <p:spPr>
            <a:xfrm rot="5400000">
              <a:off x="5743333" y="2100484"/>
              <a:ext cx="988578" cy="1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6297561" y="1666134"/>
              <a:ext cx="1242647" cy="1036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文本框 39"/>
          <p:cNvSpPr txBox="1"/>
          <p:nvPr/>
        </p:nvSpPr>
        <p:spPr>
          <a:xfrm>
            <a:off x="6417440" y="1973020"/>
            <a:ext cx="1032387" cy="701040"/>
          </a:xfrm>
          <a:prstGeom prst="rect">
            <a:avLst/>
          </a:prstGeom>
          <a:noFill/>
        </p:spPr>
        <p:txBody>
          <a:bodyPr wrap="square" rtlCol="0">
            <a:spAutoFit/>
          </a:bodyPr>
          <a:lstStyle/>
          <a:p>
            <a:pPr algn="ctr"/>
            <a:r>
              <a:rPr lang="en-US" altLang="zh-CN" sz="4000">
                <a:solidFill>
                  <a:schemeClr val="tx1">
                    <a:lumMod val="85000"/>
                    <a:lumOff val="15000"/>
                  </a:schemeClr>
                </a:solidFill>
                <a:latin typeface="FuturaBookC" pitchFamily="2" charset="-52"/>
              </a:rPr>
              <a:t>01</a:t>
            </a:r>
          </a:p>
        </p:txBody>
      </p:sp>
      <p:sp>
        <p:nvSpPr>
          <p:cNvPr id="41" name="文本框 40"/>
          <p:cNvSpPr txBox="1"/>
          <p:nvPr/>
        </p:nvSpPr>
        <p:spPr>
          <a:xfrm>
            <a:off x="6417440" y="3403967"/>
            <a:ext cx="1032387" cy="701040"/>
          </a:xfrm>
          <a:prstGeom prst="rect">
            <a:avLst/>
          </a:prstGeom>
          <a:noFill/>
        </p:spPr>
        <p:txBody>
          <a:bodyPr wrap="square" rtlCol="0">
            <a:spAutoFit/>
          </a:bodyPr>
          <a:lstStyle/>
          <a:p>
            <a:pPr algn="ctr"/>
            <a:r>
              <a:rPr lang="en-US" altLang="zh-CN" sz="4000">
                <a:solidFill>
                  <a:schemeClr val="tx1">
                    <a:lumMod val="85000"/>
                    <a:lumOff val="15000"/>
                  </a:schemeClr>
                </a:solidFill>
                <a:latin typeface="FuturaBookC" pitchFamily="2" charset="-52"/>
              </a:rPr>
              <a:t>02</a:t>
            </a:r>
          </a:p>
        </p:txBody>
      </p:sp>
      <p:sp>
        <p:nvSpPr>
          <p:cNvPr id="42" name="文本框 41"/>
          <p:cNvSpPr txBox="1"/>
          <p:nvPr/>
        </p:nvSpPr>
        <p:spPr>
          <a:xfrm>
            <a:off x="6417440" y="4800810"/>
            <a:ext cx="1032387" cy="701040"/>
          </a:xfrm>
          <a:prstGeom prst="rect">
            <a:avLst/>
          </a:prstGeom>
          <a:noFill/>
        </p:spPr>
        <p:txBody>
          <a:bodyPr wrap="square" rtlCol="0">
            <a:spAutoFit/>
          </a:bodyPr>
          <a:lstStyle/>
          <a:p>
            <a:pPr algn="ctr"/>
            <a:r>
              <a:rPr lang="en-US" altLang="zh-CN" sz="4000">
                <a:solidFill>
                  <a:schemeClr val="tx1">
                    <a:lumMod val="85000"/>
                    <a:lumOff val="15000"/>
                  </a:schemeClr>
                </a:solidFill>
                <a:latin typeface="FuturaBookC" pitchFamily="2" charset="-52"/>
              </a:rPr>
              <a:t>03</a:t>
            </a:r>
          </a:p>
        </p:txBody>
      </p:sp>
      <p:sp>
        <p:nvSpPr>
          <p:cNvPr id="43" name="文本框 42"/>
          <p:cNvSpPr txBox="1"/>
          <p:nvPr/>
        </p:nvSpPr>
        <p:spPr>
          <a:xfrm>
            <a:off x="7532775" y="2191104"/>
            <a:ext cx="3558213" cy="307777"/>
          </a:xfrm>
          <a:prstGeom prst="rect">
            <a:avLst/>
          </a:prstGeom>
          <a:noFill/>
        </p:spPr>
        <p:txBody>
          <a:bodyPr wrap="square" rtlCol="0">
            <a:spAutoFit/>
          </a:bodyPr>
          <a:lstStyle/>
          <a:p>
            <a:pPr algn="just"/>
            <a:r>
              <a:rPr lang="zh-CN" altLang="en-US" sz="1400" dirty="0">
                <a:solidFill>
                  <a:schemeClr val="tx1">
                    <a:lumMod val="85000"/>
                    <a:lumOff val="15000"/>
                  </a:schemeClr>
                </a:solidFill>
                <a:latin typeface="FZZhengHeiS-DB-GB" panose="02000000000000000000" pitchFamily="2" charset="0"/>
                <a:ea typeface="FZZhengHeiS-DB-GB" panose="02000000000000000000" pitchFamily="2" charset="0"/>
              </a:rPr>
              <a:t>工作流程分散 → 需要一体化管理与可追溯</a:t>
            </a:r>
          </a:p>
        </p:txBody>
      </p:sp>
      <p:sp>
        <p:nvSpPr>
          <p:cNvPr id="44" name="文本框 43"/>
          <p:cNvSpPr txBox="1"/>
          <p:nvPr/>
        </p:nvSpPr>
        <p:spPr>
          <a:xfrm>
            <a:off x="7532775" y="3493427"/>
            <a:ext cx="3486090" cy="523220"/>
          </a:xfrm>
          <a:prstGeom prst="rect">
            <a:avLst/>
          </a:prstGeom>
          <a:noFill/>
        </p:spPr>
        <p:txBody>
          <a:bodyPr wrap="square" rtlCol="0">
            <a:spAutoFit/>
          </a:bodyPr>
          <a:lstStyle/>
          <a:p>
            <a:pPr algn="just"/>
            <a:r>
              <a:rPr lang="zh-CN" altLang="en-US" sz="1400" dirty="0">
                <a:solidFill>
                  <a:schemeClr val="tx1">
                    <a:lumMod val="85000"/>
                    <a:lumOff val="15000"/>
                  </a:schemeClr>
                </a:solidFill>
                <a:latin typeface="FZZhengHeiS-DB-GB" panose="02000000000000000000" pitchFamily="2" charset="0"/>
                <a:ea typeface="FZZhengHeiS-DB-GB" panose="02000000000000000000" pitchFamily="2" charset="0"/>
              </a:rPr>
              <a:t>用例缺少结构体现、可视化进度，管理成本高、难以复用，不利于激发测试设计</a:t>
            </a:r>
          </a:p>
        </p:txBody>
      </p:sp>
      <p:sp>
        <p:nvSpPr>
          <p:cNvPr id="45" name="文本框 44"/>
          <p:cNvSpPr txBox="1"/>
          <p:nvPr/>
        </p:nvSpPr>
        <p:spPr>
          <a:xfrm>
            <a:off x="7532775" y="4889720"/>
            <a:ext cx="3486090" cy="523220"/>
          </a:xfrm>
          <a:prstGeom prst="rect">
            <a:avLst/>
          </a:prstGeom>
          <a:noFill/>
        </p:spPr>
        <p:txBody>
          <a:bodyPr wrap="square" rtlCol="0">
            <a:spAutoFit/>
          </a:bodyPr>
          <a:lstStyle/>
          <a:p>
            <a:pPr algn="just"/>
            <a:r>
              <a:rPr lang="zh-CN" altLang="en-US" sz="1400" dirty="0">
                <a:solidFill>
                  <a:schemeClr val="tx1">
                    <a:lumMod val="85000"/>
                    <a:lumOff val="15000"/>
                  </a:schemeClr>
                </a:solidFill>
                <a:latin typeface="FZZhengHeiS-DB-GB" panose="02000000000000000000" pitchFamily="2" charset="0"/>
                <a:ea typeface="FZZhengHeiS-DB-GB" panose="02000000000000000000" pitchFamily="2" charset="0"/>
              </a:rPr>
              <a:t>设备交互成本高、真机管理与任务执行未能形成闭环</a:t>
            </a:r>
          </a:p>
        </p:txBody>
      </p:sp>
      <p:pic>
        <p:nvPicPr>
          <p:cNvPr id="2" name="图片 1">
            <a:extLst>
              <a:ext uri="{FF2B5EF4-FFF2-40B4-BE49-F238E27FC236}">
                <a16:creationId xmlns:a16="http://schemas.microsoft.com/office/drawing/2014/main" id="{774496FF-E861-8E6C-9B48-0D1A6D834C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23326" y="356212"/>
            <a:ext cx="834225" cy="834225"/>
          </a:xfrm>
          <a:prstGeom prst="rect">
            <a:avLst/>
          </a:prstGeom>
        </p:spPr>
      </p:pic>
      <p:pic>
        <p:nvPicPr>
          <p:cNvPr id="7" name="图片 6">
            <a:extLst>
              <a:ext uri="{FF2B5EF4-FFF2-40B4-BE49-F238E27FC236}">
                <a16:creationId xmlns:a16="http://schemas.microsoft.com/office/drawing/2014/main" id="{A20D06D6-5C2B-B3AE-CC42-3B9090247286}"/>
              </a:ext>
            </a:extLst>
          </p:cNvPr>
          <p:cNvPicPr>
            <a:picLocks noChangeAspect="1"/>
          </p:cNvPicPr>
          <p:nvPr/>
        </p:nvPicPr>
        <p:blipFill>
          <a:blip r:embed="rId5">
            <a:extLst>
              <a:ext uri="{28A0092B-C50C-407E-A947-70E740481C1C}">
                <a14:useLocalDpi xmlns:a14="http://schemas.microsoft.com/office/drawing/2010/main" val="0"/>
              </a:ext>
            </a:extLst>
          </a:blip>
          <a:srcRect l="1258" t="12477" r="1874"/>
          <a:stretch>
            <a:fillRect/>
          </a:stretch>
        </p:blipFill>
        <p:spPr>
          <a:xfrm>
            <a:off x="796413" y="1642978"/>
            <a:ext cx="4895325" cy="4115925"/>
          </a:xfrm>
          <a:prstGeom prst="rect">
            <a:avLst/>
          </a:prstGeom>
        </p:spPr>
      </p:pic>
      <p:pic>
        <p:nvPicPr>
          <p:cNvPr id="8" name="图片 7">
            <a:extLst>
              <a:ext uri="{FF2B5EF4-FFF2-40B4-BE49-F238E27FC236}">
                <a16:creationId xmlns:a16="http://schemas.microsoft.com/office/drawing/2014/main" id="{08E680CE-6E6D-9B63-A372-6A2525BF7DED}"/>
              </a:ext>
            </a:extLst>
          </p:cNvPr>
          <p:cNvPicPr>
            <a:picLocks noChangeAspect="1"/>
          </p:cNvPicPr>
          <p:nvPr/>
        </p:nvPicPr>
        <p:blipFill>
          <a:blip r:embed="rId6" cstate="print">
            <a:extLst>
              <a:ext uri="{28A0092B-C50C-407E-A947-70E740481C1C}">
                <a14:useLocalDpi xmlns:a14="http://schemas.microsoft.com/office/drawing/2010/main" val="0"/>
              </a:ext>
            </a:extLst>
          </a:blip>
          <a:srcRect t="6276" b="12356"/>
          <a:stretch>
            <a:fillRect/>
          </a:stretch>
        </p:blipFill>
        <p:spPr>
          <a:xfrm>
            <a:off x="796412" y="1666133"/>
            <a:ext cx="4893031" cy="4069614"/>
          </a:xfrm>
          <a:prstGeom prst="rect">
            <a:avLst/>
          </a:prstGeom>
        </p:spPr>
      </p:pic>
    </p:spTree>
    <p:extLst>
      <p:ext uri="{BB962C8B-B14F-4D97-AF65-F5344CB8AC3E}">
        <p14:creationId xmlns:p14="http://schemas.microsoft.com/office/powerpoint/2010/main" val="2573606057"/>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ppt_x"/>
                                          </p:val>
                                        </p:tav>
                                        <p:tav tm="100000">
                                          <p:val>
                                            <p:strVal val="#ppt_x"/>
                                          </p:val>
                                        </p:tav>
                                      </p:tavLst>
                                    </p:anim>
                                    <p:anim calcmode="lin" valueType="num">
                                      <p:cBhvr additive="base">
                                        <p:cTn id="16" dur="500" fill="hold"/>
                                        <p:tgtEl>
                                          <p:spTgt spid="4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500" fill="hold"/>
                                        <p:tgtEl>
                                          <p:spTgt spid="43"/>
                                        </p:tgtEl>
                                        <p:attrNameLst>
                                          <p:attrName>ppt_x</p:attrName>
                                        </p:attrNameLst>
                                      </p:cBhvr>
                                      <p:tavLst>
                                        <p:tav tm="0">
                                          <p:val>
                                            <p:strVal val="#ppt_x"/>
                                          </p:val>
                                        </p:tav>
                                        <p:tav tm="100000">
                                          <p:val>
                                            <p:strVal val="#ppt_x"/>
                                          </p:val>
                                        </p:tav>
                                      </p:tavLst>
                                    </p:anim>
                                    <p:anim calcmode="lin" valueType="num">
                                      <p:cBhvr additive="base">
                                        <p:cTn id="20" dur="500" fill="hold"/>
                                        <p:tgtEl>
                                          <p:spTgt spid="43"/>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500" fill="hold"/>
                                        <p:tgtEl>
                                          <p:spTgt spid="32"/>
                                        </p:tgtEl>
                                        <p:attrNameLst>
                                          <p:attrName>ppt_x</p:attrName>
                                        </p:attrNameLst>
                                      </p:cBhvr>
                                      <p:tavLst>
                                        <p:tav tm="0">
                                          <p:val>
                                            <p:strVal val="#ppt_x"/>
                                          </p:val>
                                        </p:tav>
                                        <p:tav tm="100000">
                                          <p:val>
                                            <p:strVal val="#ppt_x"/>
                                          </p:val>
                                        </p:tav>
                                      </p:tavLst>
                                    </p:anim>
                                    <p:anim calcmode="lin" valueType="num">
                                      <p:cBhvr additive="base">
                                        <p:cTn id="29" dur="500" fill="hold"/>
                                        <p:tgtEl>
                                          <p:spTgt spid="32"/>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34"/>
                                        </p:tgtEl>
                                        <p:attrNameLst>
                                          <p:attrName>style.visibility</p:attrName>
                                        </p:attrNameLst>
                                      </p:cBhvr>
                                      <p:to>
                                        <p:strVal val="visible"/>
                                      </p:to>
                                    </p:set>
                                    <p:anim calcmode="lin" valueType="num">
                                      <p:cBhvr additive="base">
                                        <p:cTn id="32" dur="500" fill="hold"/>
                                        <p:tgtEl>
                                          <p:spTgt spid="34"/>
                                        </p:tgtEl>
                                        <p:attrNameLst>
                                          <p:attrName>ppt_x</p:attrName>
                                        </p:attrNameLst>
                                      </p:cBhvr>
                                      <p:tavLst>
                                        <p:tav tm="0">
                                          <p:val>
                                            <p:strVal val="#ppt_x"/>
                                          </p:val>
                                        </p:tav>
                                        <p:tav tm="100000">
                                          <p:val>
                                            <p:strVal val="#ppt_x"/>
                                          </p:val>
                                        </p:tav>
                                      </p:tavLst>
                                    </p:anim>
                                    <p:anim calcmode="lin" valueType="num">
                                      <p:cBhvr additive="base">
                                        <p:cTn id="33" dur="500" fill="hold"/>
                                        <p:tgtEl>
                                          <p:spTgt spid="34"/>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41"/>
                                        </p:tgtEl>
                                        <p:attrNameLst>
                                          <p:attrName>style.visibility</p:attrName>
                                        </p:attrNameLst>
                                      </p:cBhvr>
                                      <p:to>
                                        <p:strVal val="visible"/>
                                      </p:to>
                                    </p:set>
                                    <p:anim calcmode="lin" valueType="num">
                                      <p:cBhvr additive="base">
                                        <p:cTn id="36" dur="500" fill="hold"/>
                                        <p:tgtEl>
                                          <p:spTgt spid="41"/>
                                        </p:tgtEl>
                                        <p:attrNameLst>
                                          <p:attrName>ppt_x</p:attrName>
                                        </p:attrNameLst>
                                      </p:cBhvr>
                                      <p:tavLst>
                                        <p:tav tm="0">
                                          <p:val>
                                            <p:strVal val="#ppt_x"/>
                                          </p:val>
                                        </p:tav>
                                        <p:tav tm="100000">
                                          <p:val>
                                            <p:strVal val="#ppt_x"/>
                                          </p:val>
                                        </p:tav>
                                      </p:tavLst>
                                    </p:anim>
                                    <p:anim calcmode="lin" valueType="num">
                                      <p:cBhvr additive="base">
                                        <p:cTn id="37" dur="500" fill="hold"/>
                                        <p:tgtEl>
                                          <p:spTgt spid="41"/>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44"/>
                                        </p:tgtEl>
                                        <p:attrNameLst>
                                          <p:attrName>style.visibility</p:attrName>
                                        </p:attrNameLst>
                                      </p:cBhvr>
                                      <p:to>
                                        <p:strVal val="visible"/>
                                      </p:to>
                                    </p:set>
                                    <p:anim calcmode="lin" valueType="num">
                                      <p:cBhvr additive="base">
                                        <p:cTn id="40" dur="500" fill="hold"/>
                                        <p:tgtEl>
                                          <p:spTgt spid="44"/>
                                        </p:tgtEl>
                                        <p:attrNameLst>
                                          <p:attrName>ppt_x</p:attrName>
                                        </p:attrNameLst>
                                      </p:cBhvr>
                                      <p:tavLst>
                                        <p:tav tm="0">
                                          <p:val>
                                            <p:strVal val="#ppt_x"/>
                                          </p:val>
                                        </p:tav>
                                        <p:tav tm="100000">
                                          <p:val>
                                            <p:strVal val="#ppt_x"/>
                                          </p:val>
                                        </p:tav>
                                      </p:tavLst>
                                    </p:anim>
                                    <p:anim calcmode="lin" valueType="num">
                                      <p:cBhvr additive="base">
                                        <p:cTn id="41" dur="500" fill="hold"/>
                                        <p:tgtEl>
                                          <p:spTgt spid="44"/>
                                        </p:tgtEl>
                                        <p:attrNameLst>
                                          <p:attrName>ppt_y</p:attrName>
                                        </p:attrNameLst>
                                      </p:cBhvr>
                                      <p:tavLst>
                                        <p:tav tm="0">
                                          <p:val>
                                            <p:strVal val="1+#ppt_h/2"/>
                                          </p:val>
                                        </p:tav>
                                        <p:tav tm="100000">
                                          <p:val>
                                            <p:strVal val="#ppt_y"/>
                                          </p:val>
                                        </p:tav>
                                      </p:tavLst>
                                    </p:anim>
                                  </p:childTnLst>
                                </p:cTn>
                              </p:par>
                            </p:childTnLst>
                          </p:cTn>
                        </p:par>
                        <p:par>
                          <p:cTn id="42" fill="hold">
                            <p:stCondLst>
                              <p:cond delay="500"/>
                            </p:stCondLst>
                            <p:childTnLst>
                              <p:par>
                                <p:cTn id="43" presetID="53" presetClass="entr" presetSubtype="16" fill="hold" nodeType="after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500" fill="hold"/>
                                        <p:tgtEl>
                                          <p:spTgt spid="7"/>
                                        </p:tgtEl>
                                        <p:attrNameLst>
                                          <p:attrName>ppt_w</p:attrName>
                                        </p:attrNameLst>
                                      </p:cBhvr>
                                      <p:tavLst>
                                        <p:tav tm="0">
                                          <p:val>
                                            <p:fltVal val="0"/>
                                          </p:val>
                                        </p:tav>
                                        <p:tav tm="100000">
                                          <p:val>
                                            <p:strVal val="#ppt_w"/>
                                          </p:val>
                                        </p:tav>
                                      </p:tavLst>
                                    </p:anim>
                                    <p:anim calcmode="lin" valueType="num">
                                      <p:cBhvr>
                                        <p:cTn id="46" dur="500" fill="hold"/>
                                        <p:tgtEl>
                                          <p:spTgt spid="7"/>
                                        </p:tgtEl>
                                        <p:attrNameLst>
                                          <p:attrName>ppt_h</p:attrName>
                                        </p:attrNameLst>
                                      </p:cBhvr>
                                      <p:tavLst>
                                        <p:tav tm="0">
                                          <p:val>
                                            <p:fltVal val="0"/>
                                          </p:val>
                                        </p:tav>
                                        <p:tav tm="100000">
                                          <p:val>
                                            <p:strVal val="#ppt_h"/>
                                          </p:val>
                                        </p:tav>
                                      </p:tavLst>
                                    </p:anim>
                                    <p:animEffect transition="in" filter="fade">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33"/>
                                        </p:tgtEl>
                                        <p:attrNameLst>
                                          <p:attrName>style.visibility</p:attrName>
                                        </p:attrNameLst>
                                      </p:cBhvr>
                                      <p:to>
                                        <p:strVal val="visible"/>
                                      </p:to>
                                    </p:set>
                                    <p:anim calcmode="lin" valueType="num">
                                      <p:cBhvr additive="base">
                                        <p:cTn id="52" dur="500" fill="hold"/>
                                        <p:tgtEl>
                                          <p:spTgt spid="33"/>
                                        </p:tgtEl>
                                        <p:attrNameLst>
                                          <p:attrName>ppt_x</p:attrName>
                                        </p:attrNameLst>
                                      </p:cBhvr>
                                      <p:tavLst>
                                        <p:tav tm="0">
                                          <p:val>
                                            <p:strVal val="#ppt_x"/>
                                          </p:val>
                                        </p:tav>
                                        <p:tav tm="100000">
                                          <p:val>
                                            <p:strVal val="#ppt_x"/>
                                          </p:val>
                                        </p:tav>
                                      </p:tavLst>
                                    </p:anim>
                                    <p:anim calcmode="lin" valueType="num">
                                      <p:cBhvr additive="base">
                                        <p:cTn id="53" dur="500" fill="hold"/>
                                        <p:tgtEl>
                                          <p:spTgt spid="33"/>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37"/>
                                        </p:tgtEl>
                                        <p:attrNameLst>
                                          <p:attrName>style.visibility</p:attrName>
                                        </p:attrNameLst>
                                      </p:cBhvr>
                                      <p:to>
                                        <p:strVal val="visible"/>
                                      </p:to>
                                    </p:set>
                                    <p:anim calcmode="lin" valueType="num">
                                      <p:cBhvr additive="base">
                                        <p:cTn id="56" dur="500" fill="hold"/>
                                        <p:tgtEl>
                                          <p:spTgt spid="37"/>
                                        </p:tgtEl>
                                        <p:attrNameLst>
                                          <p:attrName>ppt_x</p:attrName>
                                        </p:attrNameLst>
                                      </p:cBhvr>
                                      <p:tavLst>
                                        <p:tav tm="0">
                                          <p:val>
                                            <p:strVal val="#ppt_x"/>
                                          </p:val>
                                        </p:tav>
                                        <p:tav tm="100000">
                                          <p:val>
                                            <p:strVal val="#ppt_x"/>
                                          </p:val>
                                        </p:tav>
                                      </p:tavLst>
                                    </p:anim>
                                    <p:anim calcmode="lin" valueType="num">
                                      <p:cBhvr additive="base">
                                        <p:cTn id="57" dur="500" fill="hold"/>
                                        <p:tgtEl>
                                          <p:spTgt spid="37"/>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42"/>
                                        </p:tgtEl>
                                        <p:attrNameLst>
                                          <p:attrName>style.visibility</p:attrName>
                                        </p:attrNameLst>
                                      </p:cBhvr>
                                      <p:to>
                                        <p:strVal val="visible"/>
                                      </p:to>
                                    </p:set>
                                    <p:anim calcmode="lin" valueType="num">
                                      <p:cBhvr additive="base">
                                        <p:cTn id="60" dur="500" fill="hold"/>
                                        <p:tgtEl>
                                          <p:spTgt spid="42"/>
                                        </p:tgtEl>
                                        <p:attrNameLst>
                                          <p:attrName>ppt_x</p:attrName>
                                        </p:attrNameLst>
                                      </p:cBhvr>
                                      <p:tavLst>
                                        <p:tav tm="0">
                                          <p:val>
                                            <p:strVal val="#ppt_x"/>
                                          </p:val>
                                        </p:tav>
                                        <p:tav tm="100000">
                                          <p:val>
                                            <p:strVal val="#ppt_x"/>
                                          </p:val>
                                        </p:tav>
                                      </p:tavLst>
                                    </p:anim>
                                    <p:anim calcmode="lin" valueType="num">
                                      <p:cBhvr additive="base">
                                        <p:cTn id="61" dur="500" fill="hold"/>
                                        <p:tgtEl>
                                          <p:spTgt spid="42"/>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45"/>
                                        </p:tgtEl>
                                        <p:attrNameLst>
                                          <p:attrName>style.visibility</p:attrName>
                                        </p:attrNameLst>
                                      </p:cBhvr>
                                      <p:to>
                                        <p:strVal val="visible"/>
                                      </p:to>
                                    </p:set>
                                    <p:anim calcmode="lin" valueType="num">
                                      <p:cBhvr additive="base">
                                        <p:cTn id="64" dur="500" fill="hold"/>
                                        <p:tgtEl>
                                          <p:spTgt spid="45"/>
                                        </p:tgtEl>
                                        <p:attrNameLst>
                                          <p:attrName>ppt_x</p:attrName>
                                        </p:attrNameLst>
                                      </p:cBhvr>
                                      <p:tavLst>
                                        <p:tav tm="0">
                                          <p:val>
                                            <p:strVal val="#ppt_x"/>
                                          </p:val>
                                        </p:tav>
                                        <p:tav tm="100000">
                                          <p:val>
                                            <p:strVal val="#ppt_x"/>
                                          </p:val>
                                        </p:tav>
                                      </p:tavLst>
                                    </p:anim>
                                    <p:anim calcmode="lin" valueType="num">
                                      <p:cBhvr additive="base">
                                        <p:cTn id="65" dur="500" fill="hold"/>
                                        <p:tgtEl>
                                          <p:spTgt spid="45"/>
                                        </p:tgtEl>
                                        <p:attrNameLst>
                                          <p:attrName>ppt_y</p:attrName>
                                        </p:attrNameLst>
                                      </p:cBhvr>
                                      <p:tavLst>
                                        <p:tav tm="0">
                                          <p:val>
                                            <p:strVal val="1+#ppt_h/2"/>
                                          </p:val>
                                        </p:tav>
                                        <p:tav tm="100000">
                                          <p:val>
                                            <p:strVal val="#ppt_y"/>
                                          </p:val>
                                        </p:tav>
                                      </p:tavLst>
                                    </p:anim>
                                  </p:childTnLst>
                                </p:cTn>
                              </p:par>
                            </p:childTnLst>
                          </p:cTn>
                        </p:par>
                        <p:par>
                          <p:cTn id="66" fill="hold">
                            <p:stCondLst>
                              <p:cond delay="500"/>
                            </p:stCondLst>
                            <p:childTnLst>
                              <p:par>
                                <p:cTn id="67" presetID="2" presetClass="entr" presetSubtype="4" fill="hold" nodeType="afterEffect">
                                  <p:stCondLst>
                                    <p:cond delay="0"/>
                                  </p:stCondLst>
                                  <p:childTnLst>
                                    <p:set>
                                      <p:cBhvr>
                                        <p:cTn id="68" dur="1" fill="hold">
                                          <p:stCondLst>
                                            <p:cond delay="0"/>
                                          </p:stCondLst>
                                        </p:cTn>
                                        <p:tgtEl>
                                          <p:spTgt spid="8"/>
                                        </p:tgtEl>
                                        <p:attrNameLst>
                                          <p:attrName>style.visibility</p:attrName>
                                        </p:attrNameLst>
                                      </p:cBhvr>
                                      <p:to>
                                        <p:strVal val="visible"/>
                                      </p:to>
                                    </p:set>
                                    <p:anim calcmode="lin" valueType="num">
                                      <p:cBhvr additive="base">
                                        <p:cTn id="69" dur="500" fill="hold"/>
                                        <p:tgtEl>
                                          <p:spTgt spid="8"/>
                                        </p:tgtEl>
                                        <p:attrNameLst>
                                          <p:attrName>ppt_x</p:attrName>
                                        </p:attrNameLst>
                                      </p:cBhvr>
                                      <p:tavLst>
                                        <p:tav tm="0">
                                          <p:val>
                                            <p:strVal val="#ppt_x"/>
                                          </p:val>
                                        </p:tav>
                                        <p:tav tm="100000">
                                          <p:val>
                                            <p:strVal val="#ppt_x"/>
                                          </p:val>
                                        </p:tav>
                                      </p:tavLst>
                                    </p:anim>
                                    <p:anim calcmode="lin" valueType="num">
                                      <p:cBhvr additive="base">
                                        <p:cTn id="7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40" grpId="0"/>
      <p:bldP spid="41" grpId="0"/>
      <p:bldP spid="42" grpId="0"/>
      <p:bldP spid="43" grpId="0"/>
      <p:bldP spid="44" grpId="0"/>
      <p:bldP spid="4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403122" y="449825"/>
            <a:ext cx="11385755" cy="5958349"/>
          </a:xfrm>
          <a:prstGeom prst="roundRect">
            <a:avLst>
              <a:gd name="adj" fmla="val 1568"/>
            </a:avLst>
          </a:prstGeom>
          <a:solidFill>
            <a:schemeClr val="bg1"/>
          </a:solidFill>
          <a:ln>
            <a:noFill/>
          </a:ln>
          <a:effectLst>
            <a:glow rad="228600">
              <a:srgbClr val="02615A">
                <a:alpha val="3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887301" y="2420811"/>
            <a:ext cx="1592179" cy="1592179"/>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800" b="1">
                <a:solidFill>
                  <a:schemeClr val="bg1"/>
                </a:solidFill>
                <a:latin typeface="FuturaBookC" pitchFamily="2" charset="-52"/>
              </a:rPr>
              <a:t>2</a:t>
            </a:r>
          </a:p>
        </p:txBody>
      </p:sp>
      <p:sp>
        <p:nvSpPr>
          <p:cNvPr id="8" name="文本框 7"/>
          <p:cNvSpPr txBox="1"/>
          <p:nvPr/>
        </p:nvSpPr>
        <p:spPr>
          <a:xfrm>
            <a:off x="4476985" y="2420811"/>
            <a:ext cx="5760360" cy="762000"/>
          </a:xfrm>
          <a:prstGeom prst="rect">
            <a:avLst/>
          </a:prstGeom>
          <a:noFill/>
        </p:spPr>
        <p:txBody>
          <a:bodyPr wrap="square" rtlCol="0">
            <a:spAutoFit/>
          </a:bodyPr>
          <a:lstStyle/>
          <a:p>
            <a:pPr algn="dist"/>
            <a:r>
              <a:rPr lang="zh-CN" altLang="en-US" sz="4400" dirty="0">
                <a:solidFill>
                  <a:srgbClr val="1C4885"/>
                </a:solidFill>
                <a:latin typeface="FZZhengHeiS-DB-GB" panose="02000000000000000000" pitchFamily="2" charset="0"/>
                <a:ea typeface="FZZhengHeiS-DB-GB" panose="02000000000000000000" pitchFamily="2" charset="0"/>
              </a:rPr>
              <a:t>系统设计</a:t>
            </a:r>
          </a:p>
        </p:txBody>
      </p:sp>
      <p:cxnSp>
        <p:nvCxnSpPr>
          <p:cNvPr id="9" name="直接连接符 8"/>
          <p:cNvCxnSpPr/>
          <p:nvPr/>
        </p:nvCxnSpPr>
        <p:spPr>
          <a:xfrm>
            <a:off x="4663554" y="3428999"/>
            <a:ext cx="1112406"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4371947" y="3674436"/>
            <a:ext cx="3905394" cy="338554"/>
          </a:xfrm>
          <a:prstGeom prst="rect">
            <a:avLst/>
          </a:prstGeom>
          <a:noFill/>
        </p:spPr>
        <p:txBody>
          <a:bodyPr wrap="square" rtlCol="0">
            <a:spAutoFit/>
          </a:bodyPr>
          <a:lstStyle/>
          <a:p>
            <a:pPr algn="ctr"/>
            <a:r>
              <a:rPr lang="en-US" altLang="zh-CN" sz="1600" dirty="0">
                <a:solidFill>
                  <a:schemeClr val="tx1">
                    <a:lumMod val="85000"/>
                    <a:lumOff val="15000"/>
                  </a:schemeClr>
                </a:solidFill>
                <a:latin typeface="FuturaBookC" pitchFamily="2" charset="-52"/>
                <a:ea typeface="锐字逼格青春粗黑体简2.0" panose="02010604000000000000" pitchFamily="2" charset="-122"/>
              </a:rPr>
              <a:t>System platform design and development</a:t>
            </a:r>
          </a:p>
        </p:txBody>
      </p:sp>
      <p:pic>
        <p:nvPicPr>
          <p:cNvPr id="2" name="图片 1">
            <a:extLst>
              <a:ext uri="{FF2B5EF4-FFF2-40B4-BE49-F238E27FC236}">
                <a16:creationId xmlns:a16="http://schemas.microsoft.com/office/drawing/2014/main" id="{7C492DDF-D2B0-B6DB-2101-A10B1B46FF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39242" y="738438"/>
            <a:ext cx="834225" cy="834225"/>
          </a:xfrm>
          <a:prstGeom prst="rect">
            <a:avLst/>
          </a:prstGeom>
        </p:spPr>
      </p:pic>
    </p:spTree>
    <p:extLst>
      <p:ext uri="{BB962C8B-B14F-4D97-AF65-F5344CB8AC3E}">
        <p14:creationId xmlns:p14="http://schemas.microsoft.com/office/powerpoint/2010/main" val="2528720568"/>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648" y="409927"/>
            <a:ext cx="2538453" cy="51816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系统设计</a:t>
            </a:r>
          </a:p>
        </p:txBody>
      </p:sp>
      <p:sp>
        <p:nvSpPr>
          <p:cNvPr id="5" name="文本框 4"/>
          <p:cNvSpPr txBox="1"/>
          <p:nvPr/>
        </p:nvSpPr>
        <p:spPr>
          <a:xfrm>
            <a:off x="904649" y="840662"/>
            <a:ext cx="2251507" cy="304800"/>
          </a:xfrm>
          <a:prstGeom prst="rect">
            <a:avLst/>
          </a:prstGeom>
          <a:noFill/>
        </p:spPr>
        <p:txBody>
          <a:bodyPr wrap="square" rtlCol="0">
            <a:spAutoFit/>
          </a:bodyPr>
          <a:lstStyle/>
          <a:p>
            <a:pPr algn="dist"/>
            <a:r>
              <a:rPr lang="zh-CN" altLang="en-US" sz="1400" dirty="0">
                <a:solidFill>
                  <a:schemeClr val="tx1">
                    <a:lumMod val="85000"/>
                    <a:lumOff val="15000"/>
                  </a:schemeClr>
                </a:solidFill>
                <a:latin typeface="FuturaBookC" charset="-52"/>
                <a:ea typeface="微软雅黑" panose="020B0503020204020204" pitchFamily="34" charset="-122"/>
              </a:rPr>
              <a:t>平台具备哪些能力</a:t>
            </a:r>
            <a:endParaRPr lang="en-US" altLang="zh-CN"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flipH="1">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sp>
        <p:nvSpPr>
          <p:cNvPr id="8" name="圆角矩形 7"/>
          <p:cNvSpPr/>
          <p:nvPr/>
        </p:nvSpPr>
        <p:spPr>
          <a:xfrm>
            <a:off x="5216764" y="4260953"/>
            <a:ext cx="1752456" cy="1754999"/>
          </a:xfrm>
          <a:prstGeom prst="roundRect">
            <a:avLst>
              <a:gd name="adj" fmla="val 9951"/>
            </a:avLst>
          </a:prstGeom>
          <a:solidFill>
            <a:schemeClr val="bg1">
              <a:lumMod val="85000"/>
            </a:schemeClr>
          </a:soli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accent1">
                    <a:lumMod val="50000"/>
                  </a:schemeClr>
                </a:solidFill>
              </a:rPr>
              <a:t>MYSQL</a:t>
            </a:r>
            <a:endParaRPr lang="zh-CN" altLang="en-US" sz="2800" dirty="0">
              <a:solidFill>
                <a:schemeClr val="accent1">
                  <a:lumMod val="50000"/>
                </a:schemeClr>
              </a:solidFill>
            </a:endParaRPr>
          </a:p>
        </p:txBody>
      </p:sp>
      <p:sp>
        <p:nvSpPr>
          <p:cNvPr id="9" name="圆角矩形 8"/>
          <p:cNvSpPr/>
          <p:nvPr/>
        </p:nvSpPr>
        <p:spPr>
          <a:xfrm>
            <a:off x="5216764" y="3271366"/>
            <a:ext cx="1752456" cy="1754999"/>
          </a:xfrm>
          <a:prstGeom prst="roundRect">
            <a:avLst>
              <a:gd name="adj" fmla="val 9951"/>
            </a:avLst>
          </a:prstGeom>
          <a:solidFill>
            <a:srgbClr val="1C4885"/>
          </a:soli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t>Node.js</a:t>
            </a:r>
            <a:endParaRPr lang="zh-CN" altLang="en-US" sz="2800" dirty="0"/>
          </a:p>
        </p:txBody>
      </p:sp>
      <p:sp>
        <p:nvSpPr>
          <p:cNvPr id="10" name="圆角矩形 9"/>
          <p:cNvSpPr/>
          <p:nvPr/>
        </p:nvSpPr>
        <p:spPr>
          <a:xfrm>
            <a:off x="5216764" y="2223933"/>
            <a:ext cx="1752456" cy="1754999"/>
          </a:xfrm>
          <a:prstGeom prst="roundRect">
            <a:avLst>
              <a:gd name="adj" fmla="val 9951"/>
            </a:avLst>
          </a:prstGeom>
          <a:solidFill>
            <a:schemeClr val="bg1">
              <a:lumMod val="85000"/>
            </a:schemeClr>
          </a:soli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accent1">
                    <a:lumMod val="50000"/>
                  </a:schemeClr>
                </a:solidFill>
              </a:rPr>
              <a:t>Vue</a:t>
            </a:r>
            <a:endParaRPr lang="zh-CN" altLang="en-US" sz="2800" dirty="0">
              <a:solidFill>
                <a:schemeClr val="accent1">
                  <a:lumMod val="50000"/>
                </a:schemeClr>
              </a:solidFill>
            </a:endParaRPr>
          </a:p>
        </p:txBody>
      </p:sp>
      <p:sp>
        <p:nvSpPr>
          <p:cNvPr id="11" name="圆角矩形 10"/>
          <p:cNvSpPr/>
          <p:nvPr/>
        </p:nvSpPr>
        <p:spPr>
          <a:xfrm>
            <a:off x="5219772" y="1258037"/>
            <a:ext cx="1752456" cy="1754999"/>
          </a:xfrm>
          <a:prstGeom prst="roundRect">
            <a:avLst>
              <a:gd name="adj" fmla="val 9951"/>
            </a:avLst>
          </a:prstGeom>
          <a:solidFill>
            <a:srgbClr val="1C4885"/>
          </a:soli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t>Flask</a:t>
            </a:r>
            <a:endParaRPr lang="zh-CN" altLang="en-US" sz="3600" dirty="0"/>
          </a:p>
        </p:txBody>
      </p:sp>
      <p:sp>
        <p:nvSpPr>
          <p:cNvPr id="12" name="椭圆 11"/>
          <p:cNvSpPr/>
          <p:nvPr/>
        </p:nvSpPr>
        <p:spPr>
          <a:xfrm>
            <a:off x="3753850" y="2165682"/>
            <a:ext cx="609600" cy="609600"/>
          </a:xfrm>
          <a:prstGeom prst="ellipse">
            <a:avLst/>
          </a:pr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753850" y="4318798"/>
            <a:ext cx="609600" cy="609600"/>
          </a:xfrm>
          <a:prstGeom prst="ellipse">
            <a:avLst/>
          </a:pr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7684172" y="4318798"/>
            <a:ext cx="609600" cy="609600"/>
          </a:xfrm>
          <a:prstGeom prst="ellipse">
            <a:avLst/>
          </a:pr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7684172" y="2165682"/>
            <a:ext cx="609600" cy="609600"/>
          </a:xfrm>
          <a:prstGeom prst="ellipse">
            <a:avLst/>
          </a:pr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1412523" y="2074650"/>
            <a:ext cx="2225040" cy="365760"/>
          </a:xfrm>
          <a:prstGeom prst="rect">
            <a:avLst/>
          </a:prstGeom>
          <a:noFill/>
        </p:spPr>
        <p:txBody>
          <a:bodyPr wrap="square" rtlCol="0">
            <a:spAutoFit/>
          </a:bodyPr>
          <a:lstStyle/>
          <a:p>
            <a:pPr algn="r"/>
            <a:r>
              <a:rPr lang="zh-CN" altLang="en-US" dirty="0">
                <a:solidFill>
                  <a:schemeClr val="tx1">
                    <a:lumMod val="75000"/>
                    <a:lumOff val="25000"/>
                  </a:schemeClr>
                </a:solidFill>
                <a:latin typeface="FZZhengHeiS-DB-GB" panose="02000000000000000000" pitchFamily="2" charset="0"/>
                <a:ea typeface="FZZhengHeiS-DB-GB" panose="02000000000000000000" pitchFamily="2" charset="0"/>
              </a:rPr>
              <a:t>流程管理</a:t>
            </a:r>
          </a:p>
        </p:txBody>
      </p:sp>
      <p:sp>
        <p:nvSpPr>
          <p:cNvPr id="21" name="文本框 20"/>
          <p:cNvSpPr txBox="1"/>
          <p:nvPr/>
        </p:nvSpPr>
        <p:spPr>
          <a:xfrm>
            <a:off x="640702" y="2413204"/>
            <a:ext cx="2996861" cy="307777"/>
          </a:xfrm>
          <a:prstGeom prst="rect">
            <a:avLst/>
          </a:prstGeom>
          <a:noFill/>
        </p:spPr>
        <p:txBody>
          <a:bodyPr wrap="square" rtlCol="0">
            <a:spAutoFit/>
          </a:bodyPr>
          <a:lstStyle/>
          <a:p>
            <a:pPr algn="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项目</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迭代</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需求</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用例</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任务</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报告</a:t>
            </a:r>
          </a:p>
        </p:txBody>
      </p:sp>
      <p:sp>
        <p:nvSpPr>
          <p:cNvPr id="22" name="文本框 21"/>
          <p:cNvSpPr txBox="1"/>
          <p:nvPr/>
        </p:nvSpPr>
        <p:spPr>
          <a:xfrm>
            <a:off x="1428565" y="4198432"/>
            <a:ext cx="2225040" cy="36576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r>
              <a:rPr lang="zh-CN" altLang="en-US" dirty="0">
                <a:solidFill>
                  <a:schemeClr val="tx1">
                    <a:lumMod val="75000"/>
                    <a:lumOff val="25000"/>
                  </a:schemeClr>
                </a:solidFill>
                <a:effectLst/>
              </a:rPr>
              <a:t>操作能力</a:t>
            </a:r>
          </a:p>
        </p:txBody>
      </p:sp>
      <p:sp>
        <p:nvSpPr>
          <p:cNvPr id="23" name="文本框 22"/>
          <p:cNvSpPr txBox="1"/>
          <p:nvPr/>
        </p:nvSpPr>
        <p:spPr>
          <a:xfrm>
            <a:off x="572243" y="4536985"/>
            <a:ext cx="3081362" cy="307777"/>
          </a:xfrm>
          <a:prstGeom prst="rect">
            <a:avLst/>
          </a:prstGeom>
          <a:noFill/>
        </p:spPr>
        <p:txBody>
          <a:bodyPr wrap="square" rtlCol="0">
            <a:spAutoFit/>
          </a:bodyPr>
          <a:lstStyle/>
          <a:p>
            <a:pPr algn="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用例的维护、评审和执行、设备操作</a:t>
            </a:r>
          </a:p>
        </p:txBody>
      </p:sp>
      <p:sp>
        <p:nvSpPr>
          <p:cNvPr id="24" name="文本框 23"/>
          <p:cNvSpPr txBox="1"/>
          <p:nvPr/>
        </p:nvSpPr>
        <p:spPr>
          <a:xfrm>
            <a:off x="8399125" y="2074352"/>
            <a:ext cx="2225040" cy="365760"/>
          </a:xfrm>
          <a:prstGeom prst="rect">
            <a:avLst/>
          </a:prstGeom>
          <a:noFill/>
        </p:spPr>
        <p:txBody>
          <a:bodyPr wrap="square" rtlCol="0">
            <a:spAutoFit/>
          </a:bodyPr>
          <a:lstStyle/>
          <a:p>
            <a:r>
              <a:rPr lang="zh-CN" altLang="en-US" dirty="0">
                <a:solidFill>
                  <a:schemeClr val="tx1">
                    <a:lumMod val="75000"/>
                    <a:lumOff val="25000"/>
                  </a:schemeClr>
                </a:solidFill>
                <a:latin typeface="FZZhengHeiS-DB-GB" panose="02000000000000000000" pitchFamily="2" charset="0"/>
                <a:ea typeface="FZZhengHeiS-DB-GB" panose="02000000000000000000" pitchFamily="2" charset="0"/>
              </a:rPr>
              <a:t>资产管理</a:t>
            </a:r>
          </a:p>
        </p:txBody>
      </p:sp>
      <p:sp>
        <p:nvSpPr>
          <p:cNvPr id="25" name="文本框 24"/>
          <p:cNvSpPr txBox="1"/>
          <p:nvPr/>
        </p:nvSpPr>
        <p:spPr>
          <a:xfrm>
            <a:off x="8399125" y="2429792"/>
            <a:ext cx="3597894" cy="307777"/>
          </a:xfrm>
          <a:prstGeom prst="rect">
            <a:avLst/>
          </a:prstGeom>
          <a:noFill/>
        </p:spPr>
        <p:txBody>
          <a:bodyPr wrap="square" rtlCol="0">
            <a:spAutoFit/>
          </a:bodyPr>
          <a:lstStyle/>
          <a:p>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用例数据（需求、回归用例等）、真机设备</a:t>
            </a:r>
          </a:p>
        </p:txBody>
      </p:sp>
      <p:sp>
        <p:nvSpPr>
          <p:cNvPr id="26" name="文本框 25"/>
          <p:cNvSpPr txBox="1"/>
          <p:nvPr/>
        </p:nvSpPr>
        <p:spPr>
          <a:xfrm>
            <a:off x="8444816" y="4260953"/>
            <a:ext cx="2225040" cy="36576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rPr>
              <a:t>其他功能</a:t>
            </a:r>
          </a:p>
        </p:txBody>
      </p:sp>
      <p:sp>
        <p:nvSpPr>
          <p:cNvPr id="27" name="文本框 26"/>
          <p:cNvSpPr txBox="1"/>
          <p:nvPr/>
        </p:nvSpPr>
        <p:spPr>
          <a:xfrm>
            <a:off x="8444816" y="4616393"/>
            <a:ext cx="3597894" cy="523220"/>
          </a:xfrm>
          <a:prstGeom prst="rect">
            <a:avLst/>
          </a:prstGeom>
          <a:noFill/>
        </p:spPr>
        <p:txBody>
          <a:bodyPr wrap="square" rtlCol="0">
            <a:spAutoFit/>
          </a:bodyPr>
          <a:lstStyle/>
          <a:p>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权限规划、用户管理、系统配置、帮助中心</a:t>
            </a:r>
            <a:endPar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endParaRPr>
          </a:p>
          <a:p>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消息通知</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68042" y="4426350"/>
            <a:ext cx="381216" cy="381216"/>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2703" y="4415028"/>
            <a:ext cx="392538" cy="392538"/>
          </a:xfrm>
          <a:prstGeom prst="rect">
            <a:avLst/>
          </a:prstGeom>
        </p:spPr>
      </p:pic>
      <p:pic>
        <p:nvPicPr>
          <p:cNvPr id="28" name="图片 2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68042" y="2283624"/>
            <a:ext cx="392538" cy="392538"/>
          </a:xfrm>
          <a:prstGeom prst="rect">
            <a:avLst/>
          </a:prstGeom>
        </p:spPr>
      </p:pic>
      <p:pic>
        <p:nvPicPr>
          <p:cNvPr id="29" name="图片 2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98070" y="2283624"/>
            <a:ext cx="392538" cy="392538"/>
          </a:xfrm>
          <a:prstGeom prst="rect">
            <a:avLst/>
          </a:prstGeom>
        </p:spPr>
      </p:pic>
      <p:pic>
        <p:nvPicPr>
          <p:cNvPr id="16" name="图片 15">
            <a:extLst>
              <a:ext uri="{FF2B5EF4-FFF2-40B4-BE49-F238E27FC236}">
                <a16:creationId xmlns:a16="http://schemas.microsoft.com/office/drawing/2014/main" id="{8FE05725-041A-2946-A7D1-A1E462FE4C1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780857" y="356212"/>
            <a:ext cx="834225" cy="834225"/>
          </a:xfrm>
          <a:prstGeom prst="rect">
            <a:avLst/>
          </a:prstGeom>
        </p:spPr>
      </p:pic>
    </p:spTree>
    <p:extLst>
      <p:ext uri="{BB962C8B-B14F-4D97-AF65-F5344CB8AC3E}">
        <p14:creationId xmlns:p14="http://schemas.microsoft.com/office/powerpoint/2010/main" val="2090670497"/>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53" presetClass="entr" presetSubtype="16"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500" fill="hold"/>
                                        <p:tgtEl>
                                          <p:spTgt spid="12"/>
                                        </p:tgtEl>
                                        <p:attrNameLst>
                                          <p:attrName>ppt_w</p:attrName>
                                        </p:attrNameLst>
                                      </p:cBhvr>
                                      <p:tavLst>
                                        <p:tav tm="0">
                                          <p:val>
                                            <p:fltVal val="0"/>
                                          </p:val>
                                        </p:tav>
                                        <p:tav tm="100000">
                                          <p:val>
                                            <p:strVal val="#ppt_w"/>
                                          </p:val>
                                        </p:tav>
                                      </p:tavLst>
                                    </p:anim>
                                    <p:anim calcmode="lin" valueType="num">
                                      <p:cBhvr>
                                        <p:cTn id="29" dur="500" fill="hold"/>
                                        <p:tgtEl>
                                          <p:spTgt spid="12"/>
                                        </p:tgtEl>
                                        <p:attrNameLst>
                                          <p:attrName>ppt_h</p:attrName>
                                        </p:attrNameLst>
                                      </p:cBhvr>
                                      <p:tavLst>
                                        <p:tav tm="0">
                                          <p:val>
                                            <p:fltVal val="0"/>
                                          </p:val>
                                        </p:tav>
                                        <p:tav tm="100000">
                                          <p:val>
                                            <p:strVal val="#ppt_h"/>
                                          </p:val>
                                        </p:tav>
                                      </p:tavLst>
                                    </p:anim>
                                    <p:animEffect transition="in" filter="fade">
                                      <p:cBhvr>
                                        <p:cTn id="30" dur="500"/>
                                        <p:tgtEl>
                                          <p:spTgt spid="12"/>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 calcmode="lin" valueType="num">
                                      <p:cBhvr>
                                        <p:cTn id="38" dur="500" fill="hold"/>
                                        <p:tgtEl>
                                          <p:spTgt spid="20"/>
                                        </p:tgtEl>
                                        <p:attrNameLst>
                                          <p:attrName>ppt_w</p:attrName>
                                        </p:attrNameLst>
                                      </p:cBhvr>
                                      <p:tavLst>
                                        <p:tav tm="0">
                                          <p:val>
                                            <p:fltVal val="0"/>
                                          </p:val>
                                        </p:tav>
                                        <p:tav tm="100000">
                                          <p:val>
                                            <p:strVal val="#ppt_w"/>
                                          </p:val>
                                        </p:tav>
                                      </p:tavLst>
                                    </p:anim>
                                    <p:anim calcmode="lin" valueType="num">
                                      <p:cBhvr>
                                        <p:cTn id="39" dur="500" fill="hold"/>
                                        <p:tgtEl>
                                          <p:spTgt spid="20"/>
                                        </p:tgtEl>
                                        <p:attrNameLst>
                                          <p:attrName>ppt_h</p:attrName>
                                        </p:attrNameLst>
                                      </p:cBhvr>
                                      <p:tavLst>
                                        <p:tav tm="0">
                                          <p:val>
                                            <p:fltVal val="0"/>
                                          </p:val>
                                        </p:tav>
                                        <p:tav tm="100000">
                                          <p:val>
                                            <p:strVal val="#ppt_h"/>
                                          </p:val>
                                        </p:tav>
                                      </p:tavLst>
                                    </p:anim>
                                    <p:animEffect transition="in" filter="fade">
                                      <p:cBhvr>
                                        <p:cTn id="40" dur="500"/>
                                        <p:tgtEl>
                                          <p:spTgt spid="2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p:cTn id="43" dur="500" fill="hold"/>
                                        <p:tgtEl>
                                          <p:spTgt spid="21"/>
                                        </p:tgtEl>
                                        <p:attrNameLst>
                                          <p:attrName>ppt_w</p:attrName>
                                        </p:attrNameLst>
                                      </p:cBhvr>
                                      <p:tavLst>
                                        <p:tav tm="0">
                                          <p:val>
                                            <p:fltVal val="0"/>
                                          </p:val>
                                        </p:tav>
                                        <p:tav tm="100000">
                                          <p:val>
                                            <p:strVal val="#ppt_w"/>
                                          </p:val>
                                        </p:tav>
                                      </p:tavLst>
                                    </p:anim>
                                    <p:anim calcmode="lin" valueType="num">
                                      <p:cBhvr>
                                        <p:cTn id="44" dur="500" fill="hold"/>
                                        <p:tgtEl>
                                          <p:spTgt spid="21"/>
                                        </p:tgtEl>
                                        <p:attrNameLst>
                                          <p:attrName>ppt_h</p:attrName>
                                        </p:attrNameLst>
                                      </p:cBhvr>
                                      <p:tavLst>
                                        <p:tav tm="0">
                                          <p:val>
                                            <p:fltVal val="0"/>
                                          </p:val>
                                        </p:tav>
                                        <p:tav tm="100000">
                                          <p:val>
                                            <p:strVal val="#ppt_h"/>
                                          </p:val>
                                        </p:tav>
                                      </p:tavLst>
                                    </p:anim>
                                    <p:animEffect transition="in" filter="fade">
                                      <p:cBhvr>
                                        <p:cTn id="45" dur="500"/>
                                        <p:tgtEl>
                                          <p:spTgt spid="2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p:cTn id="48" dur="500" fill="hold"/>
                                        <p:tgtEl>
                                          <p:spTgt spid="22"/>
                                        </p:tgtEl>
                                        <p:attrNameLst>
                                          <p:attrName>ppt_w</p:attrName>
                                        </p:attrNameLst>
                                      </p:cBhvr>
                                      <p:tavLst>
                                        <p:tav tm="0">
                                          <p:val>
                                            <p:fltVal val="0"/>
                                          </p:val>
                                        </p:tav>
                                        <p:tav tm="100000">
                                          <p:val>
                                            <p:strVal val="#ppt_w"/>
                                          </p:val>
                                        </p:tav>
                                      </p:tavLst>
                                    </p:anim>
                                    <p:anim calcmode="lin" valueType="num">
                                      <p:cBhvr>
                                        <p:cTn id="49" dur="500" fill="hold"/>
                                        <p:tgtEl>
                                          <p:spTgt spid="22"/>
                                        </p:tgtEl>
                                        <p:attrNameLst>
                                          <p:attrName>ppt_h</p:attrName>
                                        </p:attrNameLst>
                                      </p:cBhvr>
                                      <p:tavLst>
                                        <p:tav tm="0">
                                          <p:val>
                                            <p:fltVal val="0"/>
                                          </p:val>
                                        </p:tav>
                                        <p:tav tm="100000">
                                          <p:val>
                                            <p:strVal val="#ppt_h"/>
                                          </p:val>
                                        </p:tav>
                                      </p:tavLst>
                                    </p:anim>
                                    <p:animEffect transition="in" filter="fade">
                                      <p:cBhvr>
                                        <p:cTn id="50" dur="500"/>
                                        <p:tgtEl>
                                          <p:spTgt spid="22"/>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p:cTn id="53" dur="500" fill="hold"/>
                                        <p:tgtEl>
                                          <p:spTgt spid="23"/>
                                        </p:tgtEl>
                                        <p:attrNameLst>
                                          <p:attrName>ppt_w</p:attrName>
                                        </p:attrNameLst>
                                      </p:cBhvr>
                                      <p:tavLst>
                                        <p:tav tm="0">
                                          <p:val>
                                            <p:fltVal val="0"/>
                                          </p:val>
                                        </p:tav>
                                        <p:tav tm="100000">
                                          <p:val>
                                            <p:strVal val="#ppt_w"/>
                                          </p:val>
                                        </p:tav>
                                      </p:tavLst>
                                    </p:anim>
                                    <p:anim calcmode="lin" valueType="num">
                                      <p:cBhvr>
                                        <p:cTn id="54" dur="500" fill="hold"/>
                                        <p:tgtEl>
                                          <p:spTgt spid="23"/>
                                        </p:tgtEl>
                                        <p:attrNameLst>
                                          <p:attrName>ppt_h</p:attrName>
                                        </p:attrNameLst>
                                      </p:cBhvr>
                                      <p:tavLst>
                                        <p:tav tm="0">
                                          <p:val>
                                            <p:fltVal val="0"/>
                                          </p:val>
                                        </p:tav>
                                        <p:tav tm="100000">
                                          <p:val>
                                            <p:strVal val="#ppt_h"/>
                                          </p:val>
                                        </p:tav>
                                      </p:tavLst>
                                    </p:anim>
                                    <p:animEffect transition="in" filter="fade">
                                      <p:cBhvr>
                                        <p:cTn id="55" dur="500"/>
                                        <p:tgtEl>
                                          <p:spTgt spid="23"/>
                                        </p:tgtEl>
                                      </p:cBhvr>
                                    </p:animEffect>
                                  </p:childTnLst>
                                </p:cTn>
                              </p:par>
                              <p:par>
                                <p:cTn id="56" presetID="53" presetClass="entr" presetSubtype="16" fill="hold" nodeType="withEffect">
                                  <p:stCondLst>
                                    <p:cond delay="0"/>
                                  </p:stCondLst>
                                  <p:childTnLst>
                                    <p:set>
                                      <p:cBhvr>
                                        <p:cTn id="57" dur="1" fill="hold">
                                          <p:stCondLst>
                                            <p:cond delay="0"/>
                                          </p:stCondLst>
                                        </p:cTn>
                                        <p:tgtEl>
                                          <p:spTgt spid="2"/>
                                        </p:tgtEl>
                                        <p:attrNameLst>
                                          <p:attrName>style.visibility</p:attrName>
                                        </p:attrNameLst>
                                      </p:cBhvr>
                                      <p:to>
                                        <p:strVal val="visible"/>
                                      </p:to>
                                    </p:set>
                                    <p:anim calcmode="lin" valueType="num">
                                      <p:cBhvr>
                                        <p:cTn id="58" dur="500" fill="hold"/>
                                        <p:tgtEl>
                                          <p:spTgt spid="2"/>
                                        </p:tgtEl>
                                        <p:attrNameLst>
                                          <p:attrName>ppt_w</p:attrName>
                                        </p:attrNameLst>
                                      </p:cBhvr>
                                      <p:tavLst>
                                        <p:tav tm="0">
                                          <p:val>
                                            <p:fltVal val="0"/>
                                          </p:val>
                                        </p:tav>
                                        <p:tav tm="100000">
                                          <p:val>
                                            <p:strVal val="#ppt_w"/>
                                          </p:val>
                                        </p:tav>
                                      </p:tavLst>
                                    </p:anim>
                                    <p:anim calcmode="lin" valueType="num">
                                      <p:cBhvr>
                                        <p:cTn id="59" dur="500" fill="hold"/>
                                        <p:tgtEl>
                                          <p:spTgt spid="2"/>
                                        </p:tgtEl>
                                        <p:attrNameLst>
                                          <p:attrName>ppt_h</p:attrName>
                                        </p:attrNameLst>
                                      </p:cBhvr>
                                      <p:tavLst>
                                        <p:tav tm="0">
                                          <p:val>
                                            <p:fltVal val="0"/>
                                          </p:val>
                                        </p:tav>
                                        <p:tav tm="100000">
                                          <p:val>
                                            <p:strVal val="#ppt_h"/>
                                          </p:val>
                                        </p:tav>
                                      </p:tavLst>
                                    </p:anim>
                                    <p:animEffect transition="in" filter="fade">
                                      <p:cBhvr>
                                        <p:cTn id="60" dur="500"/>
                                        <p:tgtEl>
                                          <p:spTgt spid="2"/>
                                        </p:tgtEl>
                                      </p:cBhvr>
                                    </p:animEffect>
                                  </p:childTnLst>
                                </p:cTn>
                              </p:par>
                              <p:par>
                                <p:cTn id="61" presetID="53" presetClass="entr" presetSubtype="16"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 calcmode="lin" valueType="num">
                                      <p:cBhvr>
                                        <p:cTn id="63" dur="500" fill="hold"/>
                                        <p:tgtEl>
                                          <p:spTgt spid="28"/>
                                        </p:tgtEl>
                                        <p:attrNameLst>
                                          <p:attrName>ppt_w</p:attrName>
                                        </p:attrNameLst>
                                      </p:cBhvr>
                                      <p:tavLst>
                                        <p:tav tm="0">
                                          <p:val>
                                            <p:fltVal val="0"/>
                                          </p:val>
                                        </p:tav>
                                        <p:tav tm="100000">
                                          <p:val>
                                            <p:strVal val="#ppt_w"/>
                                          </p:val>
                                        </p:tav>
                                      </p:tavLst>
                                    </p:anim>
                                    <p:anim calcmode="lin" valueType="num">
                                      <p:cBhvr>
                                        <p:cTn id="64" dur="500" fill="hold"/>
                                        <p:tgtEl>
                                          <p:spTgt spid="28"/>
                                        </p:tgtEl>
                                        <p:attrNameLst>
                                          <p:attrName>ppt_h</p:attrName>
                                        </p:attrNameLst>
                                      </p:cBhvr>
                                      <p:tavLst>
                                        <p:tav tm="0">
                                          <p:val>
                                            <p:fltVal val="0"/>
                                          </p:val>
                                        </p:tav>
                                        <p:tav tm="100000">
                                          <p:val>
                                            <p:strVal val="#ppt_h"/>
                                          </p:val>
                                        </p:tav>
                                      </p:tavLst>
                                    </p:anim>
                                    <p:animEffect transition="in" filter="fade">
                                      <p:cBhvr>
                                        <p:cTn id="65" dur="500"/>
                                        <p:tgtEl>
                                          <p:spTgt spid="28"/>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 calcmode="lin" valueType="num">
                                      <p:cBhvr>
                                        <p:cTn id="68" dur="500" fill="hold"/>
                                        <p:tgtEl>
                                          <p:spTgt spid="14"/>
                                        </p:tgtEl>
                                        <p:attrNameLst>
                                          <p:attrName>ppt_w</p:attrName>
                                        </p:attrNameLst>
                                      </p:cBhvr>
                                      <p:tavLst>
                                        <p:tav tm="0">
                                          <p:val>
                                            <p:fltVal val="0"/>
                                          </p:val>
                                        </p:tav>
                                        <p:tav tm="100000">
                                          <p:val>
                                            <p:strVal val="#ppt_w"/>
                                          </p:val>
                                        </p:tav>
                                      </p:tavLst>
                                    </p:anim>
                                    <p:anim calcmode="lin" valueType="num">
                                      <p:cBhvr>
                                        <p:cTn id="69" dur="500" fill="hold"/>
                                        <p:tgtEl>
                                          <p:spTgt spid="14"/>
                                        </p:tgtEl>
                                        <p:attrNameLst>
                                          <p:attrName>ppt_h</p:attrName>
                                        </p:attrNameLst>
                                      </p:cBhvr>
                                      <p:tavLst>
                                        <p:tav tm="0">
                                          <p:val>
                                            <p:fltVal val="0"/>
                                          </p:val>
                                        </p:tav>
                                        <p:tav tm="100000">
                                          <p:val>
                                            <p:strVal val="#ppt_h"/>
                                          </p:val>
                                        </p:tav>
                                      </p:tavLst>
                                    </p:anim>
                                    <p:animEffect transition="in" filter="fade">
                                      <p:cBhvr>
                                        <p:cTn id="70" dur="500"/>
                                        <p:tgtEl>
                                          <p:spTgt spid="14"/>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 calcmode="lin" valueType="num">
                                      <p:cBhvr>
                                        <p:cTn id="73" dur="500" fill="hold"/>
                                        <p:tgtEl>
                                          <p:spTgt spid="15"/>
                                        </p:tgtEl>
                                        <p:attrNameLst>
                                          <p:attrName>ppt_w</p:attrName>
                                        </p:attrNameLst>
                                      </p:cBhvr>
                                      <p:tavLst>
                                        <p:tav tm="0">
                                          <p:val>
                                            <p:fltVal val="0"/>
                                          </p:val>
                                        </p:tav>
                                        <p:tav tm="100000">
                                          <p:val>
                                            <p:strVal val="#ppt_w"/>
                                          </p:val>
                                        </p:tav>
                                      </p:tavLst>
                                    </p:anim>
                                    <p:anim calcmode="lin" valueType="num">
                                      <p:cBhvr>
                                        <p:cTn id="74" dur="500" fill="hold"/>
                                        <p:tgtEl>
                                          <p:spTgt spid="15"/>
                                        </p:tgtEl>
                                        <p:attrNameLst>
                                          <p:attrName>ppt_h</p:attrName>
                                        </p:attrNameLst>
                                      </p:cBhvr>
                                      <p:tavLst>
                                        <p:tav tm="0">
                                          <p:val>
                                            <p:fltVal val="0"/>
                                          </p:val>
                                        </p:tav>
                                        <p:tav tm="100000">
                                          <p:val>
                                            <p:strVal val="#ppt_h"/>
                                          </p:val>
                                        </p:tav>
                                      </p:tavLst>
                                    </p:anim>
                                    <p:animEffect transition="in" filter="fade">
                                      <p:cBhvr>
                                        <p:cTn id="75" dur="500"/>
                                        <p:tgtEl>
                                          <p:spTgt spid="15"/>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 calcmode="lin" valueType="num">
                                      <p:cBhvr>
                                        <p:cTn id="78" dur="500" fill="hold"/>
                                        <p:tgtEl>
                                          <p:spTgt spid="24"/>
                                        </p:tgtEl>
                                        <p:attrNameLst>
                                          <p:attrName>ppt_w</p:attrName>
                                        </p:attrNameLst>
                                      </p:cBhvr>
                                      <p:tavLst>
                                        <p:tav tm="0">
                                          <p:val>
                                            <p:fltVal val="0"/>
                                          </p:val>
                                        </p:tav>
                                        <p:tav tm="100000">
                                          <p:val>
                                            <p:strVal val="#ppt_w"/>
                                          </p:val>
                                        </p:tav>
                                      </p:tavLst>
                                    </p:anim>
                                    <p:anim calcmode="lin" valueType="num">
                                      <p:cBhvr>
                                        <p:cTn id="79" dur="500" fill="hold"/>
                                        <p:tgtEl>
                                          <p:spTgt spid="24"/>
                                        </p:tgtEl>
                                        <p:attrNameLst>
                                          <p:attrName>ppt_h</p:attrName>
                                        </p:attrNameLst>
                                      </p:cBhvr>
                                      <p:tavLst>
                                        <p:tav tm="0">
                                          <p:val>
                                            <p:fltVal val="0"/>
                                          </p:val>
                                        </p:tav>
                                        <p:tav tm="100000">
                                          <p:val>
                                            <p:strVal val="#ppt_h"/>
                                          </p:val>
                                        </p:tav>
                                      </p:tavLst>
                                    </p:anim>
                                    <p:animEffect transition="in" filter="fade">
                                      <p:cBhvr>
                                        <p:cTn id="80" dur="500"/>
                                        <p:tgtEl>
                                          <p:spTgt spid="24"/>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p:cTn id="83" dur="500" fill="hold"/>
                                        <p:tgtEl>
                                          <p:spTgt spid="25"/>
                                        </p:tgtEl>
                                        <p:attrNameLst>
                                          <p:attrName>ppt_w</p:attrName>
                                        </p:attrNameLst>
                                      </p:cBhvr>
                                      <p:tavLst>
                                        <p:tav tm="0">
                                          <p:val>
                                            <p:fltVal val="0"/>
                                          </p:val>
                                        </p:tav>
                                        <p:tav tm="100000">
                                          <p:val>
                                            <p:strVal val="#ppt_w"/>
                                          </p:val>
                                        </p:tav>
                                      </p:tavLst>
                                    </p:anim>
                                    <p:anim calcmode="lin" valueType="num">
                                      <p:cBhvr>
                                        <p:cTn id="84" dur="500" fill="hold"/>
                                        <p:tgtEl>
                                          <p:spTgt spid="25"/>
                                        </p:tgtEl>
                                        <p:attrNameLst>
                                          <p:attrName>ppt_h</p:attrName>
                                        </p:attrNameLst>
                                      </p:cBhvr>
                                      <p:tavLst>
                                        <p:tav tm="0">
                                          <p:val>
                                            <p:fltVal val="0"/>
                                          </p:val>
                                        </p:tav>
                                        <p:tav tm="100000">
                                          <p:val>
                                            <p:strVal val="#ppt_h"/>
                                          </p:val>
                                        </p:tav>
                                      </p:tavLst>
                                    </p:anim>
                                    <p:animEffect transition="in" filter="fade">
                                      <p:cBhvr>
                                        <p:cTn id="85" dur="500"/>
                                        <p:tgtEl>
                                          <p:spTgt spid="25"/>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26"/>
                                        </p:tgtEl>
                                        <p:attrNameLst>
                                          <p:attrName>style.visibility</p:attrName>
                                        </p:attrNameLst>
                                      </p:cBhvr>
                                      <p:to>
                                        <p:strVal val="visible"/>
                                      </p:to>
                                    </p:set>
                                    <p:anim calcmode="lin" valueType="num">
                                      <p:cBhvr>
                                        <p:cTn id="88" dur="500" fill="hold"/>
                                        <p:tgtEl>
                                          <p:spTgt spid="26"/>
                                        </p:tgtEl>
                                        <p:attrNameLst>
                                          <p:attrName>ppt_w</p:attrName>
                                        </p:attrNameLst>
                                      </p:cBhvr>
                                      <p:tavLst>
                                        <p:tav tm="0">
                                          <p:val>
                                            <p:fltVal val="0"/>
                                          </p:val>
                                        </p:tav>
                                        <p:tav tm="100000">
                                          <p:val>
                                            <p:strVal val="#ppt_w"/>
                                          </p:val>
                                        </p:tav>
                                      </p:tavLst>
                                    </p:anim>
                                    <p:anim calcmode="lin" valueType="num">
                                      <p:cBhvr>
                                        <p:cTn id="89" dur="500" fill="hold"/>
                                        <p:tgtEl>
                                          <p:spTgt spid="26"/>
                                        </p:tgtEl>
                                        <p:attrNameLst>
                                          <p:attrName>ppt_h</p:attrName>
                                        </p:attrNameLst>
                                      </p:cBhvr>
                                      <p:tavLst>
                                        <p:tav tm="0">
                                          <p:val>
                                            <p:fltVal val="0"/>
                                          </p:val>
                                        </p:tav>
                                        <p:tav tm="100000">
                                          <p:val>
                                            <p:strVal val="#ppt_h"/>
                                          </p:val>
                                        </p:tav>
                                      </p:tavLst>
                                    </p:anim>
                                    <p:animEffect transition="in" filter="fade">
                                      <p:cBhvr>
                                        <p:cTn id="90" dur="500"/>
                                        <p:tgtEl>
                                          <p:spTgt spid="26"/>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p:cTn id="93" dur="500" fill="hold"/>
                                        <p:tgtEl>
                                          <p:spTgt spid="27"/>
                                        </p:tgtEl>
                                        <p:attrNameLst>
                                          <p:attrName>ppt_w</p:attrName>
                                        </p:attrNameLst>
                                      </p:cBhvr>
                                      <p:tavLst>
                                        <p:tav tm="0">
                                          <p:val>
                                            <p:fltVal val="0"/>
                                          </p:val>
                                        </p:tav>
                                        <p:tav tm="100000">
                                          <p:val>
                                            <p:strVal val="#ppt_w"/>
                                          </p:val>
                                        </p:tav>
                                      </p:tavLst>
                                    </p:anim>
                                    <p:anim calcmode="lin" valueType="num">
                                      <p:cBhvr>
                                        <p:cTn id="94" dur="500" fill="hold"/>
                                        <p:tgtEl>
                                          <p:spTgt spid="27"/>
                                        </p:tgtEl>
                                        <p:attrNameLst>
                                          <p:attrName>ppt_h</p:attrName>
                                        </p:attrNameLst>
                                      </p:cBhvr>
                                      <p:tavLst>
                                        <p:tav tm="0">
                                          <p:val>
                                            <p:fltVal val="0"/>
                                          </p:val>
                                        </p:tav>
                                        <p:tav tm="100000">
                                          <p:val>
                                            <p:strVal val="#ppt_h"/>
                                          </p:val>
                                        </p:tav>
                                      </p:tavLst>
                                    </p:anim>
                                    <p:animEffect transition="in" filter="fade">
                                      <p:cBhvr>
                                        <p:cTn id="95" dur="500"/>
                                        <p:tgtEl>
                                          <p:spTgt spid="27"/>
                                        </p:tgtEl>
                                      </p:cBhvr>
                                    </p:animEffect>
                                  </p:childTnLst>
                                </p:cTn>
                              </p:par>
                              <p:par>
                                <p:cTn id="96" presetID="53" presetClass="entr" presetSubtype="16" fill="hold" nodeType="withEffect">
                                  <p:stCondLst>
                                    <p:cond delay="0"/>
                                  </p:stCondLst>
                                  <p:childTnLst>
                                    <p:set>
                                      <p:cBhvr>
                                        <p:cTn id="97" dur="1" fill="hold">
                                          <p:stCondLst>
                                            <p:cond delay="0"/>
                                          </p:stCondLst>
                                        </p:cTn>
                                        <p:tgtEl>
                                          <p:spTgt spid="3"/>
                                        </p:tgtEl>
                                        <p:attrNameLst>
                                          <p:attrName>style.visibility</p:attrName>
                                        </p:attrNameLst>
                                      </p:cBhvr>
                                      <p:to>
                                        <p:strVal val="visible"/>
                                      </p:to>
                                    </p:set>
                                    <p:anim calcmode="lin" valueType="num">
                                      <p:cBhvr>
                                        <p:cTn id="98" dur="500" fill="hold"/>
                                        <p:tgtEl>
                                          <p:spTgt spid="3"/>
                                        </p:tgtEl>
                                        <p:attrNameLst>
                                          <p:attrName>ppt_w</p:attrName>
                                        </p:attrNameLst>
                                      </p:cBhvr>
                                      <p:tavLst>
                                        <p:tav tm="0">
                                          <p:val>
                                            <p:fltVal val="0"/>
                                          </p:val>
                                        </p:tav>
                                        <p:tav tm="100000">
                                          <p:val>
                                            <p:strVal val="#ppt_w"/>
                                          </p:val>
                                        </p:tav>
                                      </p:tavLst>
                                    </p:anim>
                                    <p:anim calcmode="lin" valueType="num">
                                      <p:cBhvr>
                                        <p:cTn id="99" dur="500" fill="hold"/>
                                        <p:tgtEl>
                                          <p:spTgt spid="3"/>
                                        </p:tgtEl>
                                        <p:attrNameLst>
                                          <p:attrName>ppt_h</p:attrName>
                                        </p:attrNameLst>
                                      </p:cBhvr>
                                      <p:tavLst>
                                        <p:tav tm="0">
                                          <p:val>
                                            <p:fltVal val="0"/>
                                          </p:val>
                                        </p:tav>
                                        <p:tav tm="100000">
                                          <p:val>
                                            <p:strVal val="#ppt_h"/>
                                          </p:val>
                                        </p:tav>
                                      </p:tavLst>
                                    </p:anim>
                                    <p:animEffect transition="in" filter="fade">
                                      <p:cBhvr>
                                        <p:cTn id="100" dur="500"/>
                                        <p:tgtEl>
                                          <p:spTgt spid="3"/>
                                        </p:tgtEl>
                                      </p:cBhvr>
                                    </p:animEffect>
                                  </p:childTnLst>
                                </p:cTn>
                              </p:par>
                              <p:par>
                                <p:cTn id="101" presetID="53" presetClass="entr" presetSubtype="16" fill="hold" nodeType="withEffect">
                                  <p:stCondLst>
                                    <p:cond delay="0"/>
                                  </p:stCondLst>
                                  <p:childTnLst>
                                    <p:set>
                                      <p:cBhvr>
                                        <p:cTn id="102" dur="1" fill="hold">
                                          <p:stCondLst>
                                            <p:cond delay="0"/>
                                          </p:stCondLst>
                                        </p:cTn>
                                        <p:tgtEl>
                                          <p:spTgt spid="29"/>
                                        </p:tgtEl>
                                        <p:attrNameLst>
                                          <p:attrName>style.visibility</p:attrName>
                                        </p:attrNameLst>
                                      </p:cBhvr>
                                      <p:to>
                                        <p:strVal val="visible"/>
                                      </p:to>
                                    </p:set>
                                    <p:anim calcmode="lin" valueType="num">
                                      <p:cBhvr>
                                        <p:cTn id="103" dur="500" fill="hold"/>
                                        <p:tgtEl>
                                          <p:spTgt spid="29"/>
                                        </p:tgtEl>
                                        <p:attrNameLst>
                                          <p:attrName>ppt_w</p:attrName>
                                        </p:attrNameLst>
                                      </p:cBhvr>
                                      <p:tavLst>
                                        <p:tav tm="0">
                                          <p:val>
                                            <p:fltVal val="0"/>
                                          </p:val>
                                        </p:tav>
                                        <p:tav tm="100000">
                                          <p:val>
                                            <p:strVal val="#ppt_w"/>
                                          </p:val>
                                        </p:tav>
                                      </p:tavLst>
                                    </p:anim>
                                    <p:anim calcmode="lin" valueType="num">
                                      <p:cBhvr>
                                        <p:cTn id="104" dur="500" fill="hold"/>
                                        <p:tgtEl>
                                          <p:spTgt spid="29"/>
                                        </p:tgtEl>
                                        <p:attrNameLst>
                                          <p:attrName>ppt_h</p:attrName>
                                        </p:attrNameLst>
                                      </p:cBhvr>
                                      <p:tavLst>
                                        <p:tav tm="0">
                                          <p:val>
                                            <p:fltVal val="0"/>
                                          </p:val>
                                        </p:tav>
                                        <p:tav tm="100000">
                                          <p:val>
                                            <p:strVal val="#ppt_h"/>
                                          </p:val>
                                        </p:tav>
                                      </p:tavLst>
                                    </p:anim>
                                    <p:animEffect transition="in" filter="fade">
                                      <p:cBhvr>
                                        <p:cTn id="10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20" grpId="0"/>
      <p:bldP spid="21" grpId="0"/>
      <p:bldP spid="22" grpId="0"/>
      <p:bldP spid="23" grpId="0"/>
      <p:bldP spid="24" grpId="0"/>
      <p:bldP spid="25" grpId="0"/>
      <p:bldP spid="26"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403122" y="449825"/>
            <a:ext cx="11385755" cy="5958349"/>
          </a:xfrm>
          <a:prstGeom prst="roundRect">
            <a:avLst>
              <a:gd name="adj" fmla="val 1568"/>
            </a:avLst>
          </a:prstGeom>
          <a:solidFill>
            <a:schemeClr val="bg1"/>
          </a:solidFill>
          <a:ln>
            <a:noFill/>
          </a:ln>
          <a:effectLst>
            <a:glow rad="228600">
              <a:srgbClr val="02615A">
                <a:alpha val="3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887301" y="2420811"/>
            <a:ext cx="1592179" cy="1592179"/>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800" b="1">
                <a:solidFill>
                  <a:schemeClr val="bg1"/>
                </a:solidFill>
                <a:latin typeface="FuturaBookC" pitchFamily="2" charset="-52"/>
              </a:rPr>
              <a:t>3</a:t>
            </a:r>
          </a:p>
        </p:txBody>
      </p:sp>
      <p:sp>
        <p:nvSpPr>
          <p:cNvPr id="8" name="文本框 7"/>
          <p:cNvSpPr txBox="1"/>
          <p:nvPr/>
        </p:nvSpPr>
        <p:spPr>
          <a:xfrm>
            <a:off x="4476985" y="2420811"/>
            <a:ext cx="5760360" cy="762000"/>
          </a:xfrm>
          <a:prstGeom prst="rect">
            <a:avLst/>
          </a:prstGeom>
          <a:noFill/>
        </p:spPr>
        <p:txBody>
          <a:bodyPr wrap="square" rtlCol="0">
            <a:spAutoFit/>
          </a:bodyPr>
          <a:lstStyle/>
          <a:p>
            <a:pPr algn="dist"/>
            <a:r>
              <a:rPr lang="zh-CN" altLang="en-US" sz="4400" dirty="0">
                <a:solidFill>
                  <a:srgbClr val="1C4885"/>
                </a:solidFill>
                <a:latin typeface="FZZhengHeiS-DB-GB" panose="02000000000000000000" pitchFamily="2" charset="0"/>
                <a:ea typeface="FZZhengHeiS-DB-GB" panose="02000000000000000000" pitchFamily="2" charset="0"/>
              </a:rPr>
              <a:t>实现与验证</a:t>
            </a:r>
          </a:p>
        </p:txBody>
      </p:sp>
      <p:cxnSp>
        <p:nvCxnSpPr>
          <p:cNvPr id="9" name="直接连接符 8"/>
          <p:cNvCxnSpPr/>
          <p:nvPr/>
        </p:nvCxnSpPr>
        <p:spPr>
          <a:xfrm>
            <a:off x="4663554" y="3428999"/>
            <a:ext cx="1112406"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4392822" y="3674436"/>
            <a:ext cx="5292234" cy="338554"/>
          </a:xfrm>
          <a:prstGeom prst="rect">
            <a:avLst/>
          </a:prstGeom>
          <a:noFill/>
        </p:spPr>
        <p:txBody>
          <a:bodyPr wrap="square" rtlCol="0">
            <a:spAutoFit/>
          </a:bodyPr>
          <a:lstStyle/>
          <a:p>
            <a:pPr algn="ctr"/>
            <a:r>
              <a:rPr lang="en-US" altLang="zh-CN" sz="1600" dirty="0">
                <a:solidFill>
                  <a:schemeClr val="tx1">
                    <a:lumMod val="85000"/>
                    <a:lumOff val="15000"/>
                  </a:schemeClr>
                </a:solidFill>
                <a:latin typeface="FuturaBookC" pitchFamily="2" charset="-52"/>
                <a:ea typeface="锐字逼格青春粗黑体简2.0" panose="02010604000000000000" pitchFamily="2" charset="-122"/>
              </a:rPr>
              <a:t>System implementation and functional module verification</a:t>
            </a:r>
          </a:p>
        </p:txBody>
      </p:sp>
      <p:pic>
        <p:nvPicPr>
          <p:cNvPr id="2" name="图片 1">
            <a:extLst>
              <a:ext uri="{FF2B5EF4-FFF2-40B4-BE49-F238E27FC236}">
                <a16:creationId xmlns:a16="http://schemas.microsoft.com/office/drawing/2014/main" id="{EE3CAA61-6A1D-C6CC-DA39-75F1A4C49D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39242" y="738438"/>
            <a:ext cx="834225" cy="834225"/>
          </a:xfrm>
          <a:prstGeom prst="rect">
            <a:avLst/>
          </a:prstGeom>
        </p:spPr>
      </p:pic>
    </p:spTree>
    <p:extLst>
      <p:ext uri="{BB962C8B-B14F-4D97-AF65-F5344CB8AC3E}">
        <p14:creationId xmlns:p14="http://schemas.microsoft.com/office/powerpoint/2010/main" val="2577315452"/>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DF562-FED6-75F0-854F-E631A9F4805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71D87156-1CF7-023B-1335-282A0B752659}"/>
              </a:ext>
            </a:extLst>
          </p:cNvPr>
          <p:cNvSpPr txBox="1"/>
          <p:nvPr/>
        </p:nvSpPr>
        <p:spPr>
          <a:xfrm>
            <a:off x="904648" y="409927"/>
            <a:ext cx="2538453" cy="51816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业务流程</a:t>
            </a:r>
          </a:p>
        </p:txBody>
      </p:sp>
      <p:sp>
        <p:nvSpPr>
          <p:cNvPr id="5" name="文本框 4">
            <a:extLst>
              <a:ext uri="{FF2B5EF4-FFF2-40B4-BE49-F238E27FC236}">
                <a16:creationId xmlns:a16="http://schemas.microsoft.com/office/drawing/2014/main" id="{24407878-296A-C4D7-4E15-6A3E5F36DC7D}"/>
              </a:ext>
            </a:extLst>
          </p:cNvPr>
          <p:cNvSpPr txBox="1"/>
          <p:nvPr/>
        </p:nvSpPr>
        <p:spPr>
          <a:xfrm>
            <a:off x="904649" y="840662"/>
            <a:ext cx="2251507" cy="307777"/>
          </a:xfrm>
          <a:prstGeom prst="rect">
            <a:avLst/>
          </a:prstGeom>
          <a:noFill/>
        </p:spPr>
        <p:txBody>
          <a:bodyPr wrap="square" rtlCol="0">
            <a:spAutoFit/>
          </a:bodyPr>
          <a:lstStyle/>
          <a:p>
            <a:pPr algn="dist"/>
            <a:r>
              <a:rPr lang="zh-CN" altLang="en-US" sz="1400" dirty="0">
                <a:solidFill>
                  <a:schemeClr val="tx1">
                    <a:lumMod val="85000"/>
                    <a:lumOff val="15000"/>
                  </a:schemeClr>
                </a:solidFill>
                <a:latin typeface="FuturaBookC" charset="-52"/>
                <a:ea typeface="微软雅黑" panose="020B0503020204020204" pitchFamily="34" charset="-122"/>
              </a:rPr>
              <a:t>平台使用对应的业务流程</a:t>
            </a:r>
            <a:endParaRPr lang="en-US" altLang="zh-CN"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a:extLst>
              <a:ext uri="{FF2B5EF4-FFF2-40B4-BE49-F238E27FC236}">
                <a16:creationId xmlns:a16="http://schemas.microsoft.com/office/drawing/2014/main" id="{48824CCD-3DBE-34CE-9A84-9174943F8C70}"/>
              </a:ext>
            </a:extLst>
          </p:cNvPr>
          <p:cNvCxnSpPr/>
          <p:nvPr/>
        </p:nvCxnSpPr>
        <p:spPr>
          <a:xfrm flipH="1">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F76CCD37-5DFE-C27C-D588-B660EAD6FDB9}"/>
              </a:ext>
            </a:extLst>
          </p:cNvPr>
          <p:cNvSpPr/>
          <p:nvPr/>
        </p:nvSpPr>
        <p:spPr>
          <a:xfrm>
            <a:off x="7551057" y="4508988"/>
            <a:ext cx="2566027" cy="1067283"/>
          </a:xfrm>
          <a:prstGeom prst="rect">
            <a:avLst/>
          </a:prstGeom>
          <a:solidFill>
            <a:srgbClr val="EDEA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汇总任务结果数据，支持查看对比，形成可追溯的可视化看板，为复测、回归或问题定位提供历史依据</a:t>
            </a:r>
          </a:p>
        </p:txBody>
      </p:sp>
      <p:sp>
        <p:nvSpPr>
          <p:cNvPr id="9" name="矩形 8">
            <a:extLst>
              <a:ext uri="{FF2B5EF4-FFF2-40B4-BE49-F238E27FC236}">
                <a16:creationId xmlns:a16="http://schemas.microsoft.com/office/drawing/2014/main" id="{6DA718A0-7E69-6BB1-BCEB-EB0251B8129A}"/>
              </a:ext>
            </a:extLst>
          </p:cNvPr>
          <p:cNvSpPr/>
          <p:nvPr/>
        </p:nvSpPr>
        <p:spPr>
          <a:xfrm>
            <a:off x="7574280" y="1873678"/>
            <a:ext cx="2542804" cy="1099274"/>
          </a:xfrm>
          <a:prstGeom prst="rect">
            <a:avLst/>
          </a:prstGeom>
          <a:solidFill>
            <a:srgbClr val="EDEA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用例维护存档，手工</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+AI</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形成可重复执行的测试资产，与项目</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用例集关联，支持后续任务编排与复用</a:t>
            </a:r>
          </a:p>
        </p:txBody>
      </p:sp>
      <p:sp>
        <p:nvSpPr>
          <p:cNvPr id="10" name="矩形 9">
            <a:extLst>
              <a:ext uri="{FF2B5EF4-FFF2-40B4-BE49-F238E27FC236}">
                <a16:creationId xmlns:a16="http://schemas.microsoft.com/office/drawing/2014/main" id="{76887488-BC58-8666-3CA8-58EA49C01110}"/>
              </a:ext>
            </a:extLst>
          </p:cNvPr>
          <p:cNvSpPr/>
          <p:nvPr/>
        </p:nvSpPr>
        <p:spPr>
          <a:xfrm>
            <a:off x="2063305" y="4733959"/>
            <a:ext cx="2569655" cy="1059905"/>
          </a:xfrm>
          <a:prstGeom prst="rect">
            <a:avLst/>
          </a:prstGeom>
          <a:solidFill>
            <a:srgbClr val="EDEA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用例任务：用例集 </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快照 → 手工执行 → 结果入库</a:t>
            </a:r>
          </a:p>
          <a:p>
            <a:pPr algn="ct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脚本任务：脚本</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命令 </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真机 → 异步执行 → 结果回传</a:t>
            </a:r>
          </a:p>
        </p:txBody>
      </p:sp>
      <p:sp>
        <p:nvSpPr>
          <p:cNvPr id="11" name="矩形 10">
            <a:extLst>
              <a:ext uri="{FF2B5EF4-FFF2-40B4-BE49-F238E27FC236}">
                <a16:creationId xmlns:a16="http://schemas.microsoft.com/office/drawing/2014/main" id="{D83994D5-6FF1-DC2B-2292-47903A9ECF25}"/>
              </a:ext>
            </a:extLst>
          </p:cNvPr>
          <p:cNvSpPr/>
          <p:nvPr/>
        </p:nvSpPr>
        <p:spPr>
          <a:xfrm>
            <a:off x="2063305" y="2102036"/>
            <a:ext cx="2569655" cy="1083856"/>
          </a:xfrm>
          <a:prstGeom prst="rect">
            <a:avLst/>
          </a:prstGeom>
          <a:solidFill>
            <a:srgbClr val="EDEA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建立项目空间，统一迭代与版本需求入口，为后续用例管理、任务归档与关联设备执行提供上下文</a:t>
            </a:r>
          </a:p>
        </p:txBody>
      </p:sp>
      <p:cxnSp>
        <p:nvCxnSpPr>
          <p:cNvPr id="12" name="直接连接符 11">
            <a:extLst>
              <a:ext uri="{FF2B5EF4-FFF2-40B4-BE49-F238E27FC236}">
                <a16:creationId xmlns:a16="http://schemas.microsoft.com/office/drawing/2014/main" id="{8F768C57-6E5C-7A7E-290D-19193C27B5BD}"/>
              </a:ext>
            </a:extLst>
          </p:cNvPr>
          <p:cNvCxnSpPr/>
          <p:nvPr/>
        </p:nvCxnSpPr>
        <p:spPr>
          <a:xfrm flipH="1">
            <a:off x="6096000" y="1724664"/>
            <a:ext cx="0" cy="425268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椭圆 12">
            <a:extLst>
              <a:ext uri="{FF2B5EF4-FFF2-40B4-BE49-F238E27FC236}">
                <a16:creationId xmlns:a16="http://schemas.microsoft.com/office/drawing/2014/main" id="{2AD0A57D-3E0A-0449-EF48-D554C24DFA15}"/>
              </a:ext>
            </a:extLst>
          </p:cNvPr>
          <p:cNvSpPr/>
          <p:nvPr/>
        </p:nvSpPr>
        <p:spPr>
          <a:xfrm>
            <a:off x="5943600" y="1724664"/>
            <a:ext cx="304800" cy="304800"/>
          </a:xfrm>
          <a:prstGeom prst="ellipse">
            <a:avLst/>
          </a:prstGeom>
          <a:solidFill>
            <a:schemeClr val="bg1"/>
          </a:solidFill>
          <a:ln w="76200">
            <a:solidFill>
              <a:srgbClr val="1C48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A0710671-9F85-F593-E796-CBC40D1F0A20}"/>
              </a:ext>
            </a:extLst>
          </p:cNvPr>
          <p:cNvSpPr/>
          <p:nvPr/>
        </p:nvSpPr>
        <p:spPr>
          <a:xfrm>
            <a:off x="5943600" y="5672550"/>
            <a:ext cx="304800" cy="304800"/>
          </a:xfrm>
          <a:prstGeom prst="ellipse">
            <a:avLst/>
          </a:prstGeom>
          <a:solidFill>
            <a:schemeClr val="bg1"/>
          </a:solidFill>
          <a:ln w="76200">
            <a:solidFill>
              <a:srgbClr val="1C48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5967A1DB-8BF0-8683-308B-853A17DF3537}"/>
              </a:ext>
            </a:extLst>
          </p:cNvPr>
          <p:cNvSpPr/>
          <p:nvPr/>
        </p:nvSpPr>
        <p:spPr>
          <a:xfrm>
            <a:off x="5943600" y="3040626"/>
            <a:ext cx="304800" cy="304800"/>
          </a:xfrm>
          <a:prstGeom prst="ellipse">
            <a:avLst/>
          </a:prstGeom>
          <a:solidFill>
            <a:schemeClr val="bg1"/>
          </a:solidFill>
          <a:ln w="76200">
            <a:solidFill>
              <a:srgbClr val="1C48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D7DC3253-7D8F-17DB-47BA-9538712FCE47}"/>
              </a:ext>
            </a:extLst>
          </p:cNvPr>
          <p:cNvSpPr/>
          <p:nvPr/>
        </p:nvSpPr>
        <p:spPr>
          <a:xfrm>
            <a:off x="5936343" y="4356588"/>
            <a:ext cx="304800" cy="304800"/>
          </a:xfrm>
          <a:prstGeom prst="ellipse">
            <a:avLst/>
          </a:prstGeom>
          <a:solidFill>
            <a:schemeClr val="bg1"/>
          </a:solidFill>
          <a:ln w="76200">
            <a:solidFill>
              <a:srgbClr val="1C48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6">
            <a:extLst>
              <a:ext uri="{FF2B5EF4-FFF2-40B4-BE49-F238E27FC236}">
                <a16:creationId xmlns:a16="http://schemas.microsoft.com/office/drawing/2014/main" id="{0CD80D0D-B868-01C3-ED60-B095AE9BD864}"/>
              </a:ext>
            </a:extLst>
          </p:cNvPr>
          <p:cNvSpPr/>
          <p:nvPr/>
        </p:nvSpPr>
        <p:spPr>
          <a:xfrm>
            <a:off x="2063305" y="1652092"/>
            <a:ext cx="2683594" cy="449943"/>
          </a:xfrm>
          <a:custGeom>
            <a:avLst/>
            <a:gdLst>
              <a:gd name="connsiteX0" fmla="*/ 74992 w 2264230"/>
              <a:gd name="connsiteY0" fmla="*/ 0 h 449943"/>
              <a:gd name="connsiteX1" fmla="*/ 2087637 w 2264230"/>
              <a:gd name="connsiteY1" fmla="*/ 0 h 449943"/>
              <a:gd name="connsiteX2" fmla="*/ 2162629 w 2264230"/>
              <a:gd name="connsiteY2" fmla="*/ 74992 h 449943"/>
              <a:gd name="connsiteX3" fmla="*/ 2162629 w 2264230"/>
              <a:gd name="connsiteY3" fmla="*/ 166043 h 449943"/>
              <a:gd name="connsiteX4" fmla="*/ 2264230 w 2264230"/>
              <a:gd name="connsiteY4" fmla="*/ 224971 h 449943"/>
              <a:gd name="connsiteX5" fmla="*/ 2162629 w 2264230"/>
              <a:gd name="connsiteY5" fmla="*/ 283900 h 449943"/>
              <a:gd name="connsiteX6" fmla="*/ 2162629 w 2264230"/>
              <a:gd name="connsiteY6" fmla="*/ 374951 h 449943"/>
              <a:gd name="connsiteX7" fmla="*/ 2087637 w 2264230"/>
              <a:gd name="connsiteY7" fmla="*/ 449943 h 449943"/>
              <a:gd name="connsiteX8" fmla="*/ 74992 w 2264230"/>
              <a:gd name="connsiteY8" fmla="*/ 449943 h 449943"/>
              <a:gd name="connsiteX9" fmla="*/ 0 w 2264230"/>
              <a:gd name="connsiteY9" fmla="*/ 374951 h 449943"/>
              <a:gd name="connsiteX10" fmla="*/ 0 w 2264230"/>
              <a:gd name="connsiteY10" fmla="*/ 74992 h 449943"/>
              <a:gd name="connsiteX11" fmla="*/ 74992 w 2264230"/>
              <a:gd name="connsiteY11" fmla="*/ 0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4230" h="449942">
                <a:moveTo>
                  <a:pt x="74992" y="0"/>
                </a:moveTo>
                <a:lnTo>
                  <a:pt x="2087637" y="0"/>
                </a:lnTo>
                <a:cubicBezTo>
                  <a:pt x="2129054" y="0"/>
                  <a:pt x="2162629" y="33575"/>
                  <a:pt x="2162629" y="74992"/>
                </a:cubicBezTo>
                <a:lnTo>
                  <a:pt x="2162629" y="166043"/>
                </a:lnTo>
                <a:lnTo>
                  <a:pt x="2264230" y="224971"/>
                </a:lnTo>
                <a:lnTo>
                  <a:pt x="2162629" y="283900"/>
                </a:lnTo>
                <a:lnTo>
                  <a:pt x="2162629" y="374951"/>
                </a:lnTo>
                <a:cubicBezTo>
                  <a:pt x="2162629" y="416368"/>
                  <a:pt x="2129054" y="449943"/>
                  <a:pt x="2087637" y="449943"/>
                </a:cubicBezTo>
                <a:lnTo>
                  <a:pt x="74992" y="449943"/>
                </a:lnTo>
                <a:cubicBezTo>
                  <a:pt x="33575" y="449943"/>
                  <a:pt x="0" y="416368"/>
                  <a:pt x="0" y="374951"/>
                </a:cubicBezTo>
                <a:lnTo>
                  <a:pt x="0" y="74992"/>
                </a:lnTo>
                <a:cubicBezTo>
                  <a:pt x="0" y="33575"/>
                  <a:pt x="33575" y="0"/>
                  <a:pt x="74992" y="0"/>
                </a:cubicBezTo>
                <a:close/>
              </a:path>
            </a:pathLst>
          </a:cu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FZZhengHeiS-DB-GB" panose="02000000000000000000" pitchFamily="2" charset="0"/>
                <a:ea typeface="FZZhengHeiS-DB-GB" panose="02000000000000000000" pitchFamily="2" charset="0"/>
              </a:rPr>
              <a:t>项目管理</a:t>
            </a:r>
            <a:endParaRPr lang="en-US" altLang="zh-CN" dirty="0">
              <a:latin typeface="FZZhengHeiS-DB-GB" panose="02000000000000000000" pitchFamily="2" charset="0"/>
              <a:ea typeface="FZZhengHeiS-DB-GB" panose="02000000000000000000" pitchFamily="2" charset="0"/>
            </a:endParaRPr>
          </a:p>
        </p:txBody>
      </p:sp>
      <p:sp>
        <p:nvSpPr>
          <p:cNvPr id="18" name="任意多边形 17">
            <a:extLst>
              <a:ext uri="{FF2B5EF4-FFF2-40B4-BE49-F238E27FC236}">
                <a16:creationId xmlns:a16="http://schemas.microsoft.com/office/drawing/2014/main" id="{AF642899-9F96-EF67-9AD7-5B314A029963}"/>
              </a:ext>
            </a:extLst>
          </p:cNvPr>
          <p:cNvSpPr/>
          <p:nvPr/>
        </p:nvSpPr>
        <p:spPr>
          <a:xfrm>
            <a:off x="2074915" y="4284016"/>
            <a:ext cx="2683594" cy="449943"/>
          </a:xfrm>
          <a:custGeom>
            <a:avLst/>
            <a:gdLst>
              <a:gd name="connsiteX0" fmla="*/ 74992 w 2264230"/>
              <a:gd name="connsiteY0" fmla="*/ 0 h 449943"/>
              <a:gd name="connsiteX1" fmla="*/ 2087637 w 2264230"/>
              <a:gd name="connsiteY1" fmla="*/ 0 h 449943"/>
              <a:gd name="connsiteX2" fmla="*/ 2162629 w 2264230"/>
              <a:gd name="connsiteY2" fmla="*/ 74992 h 449943"/>
              <a:gd name="connsiteX3" fmla="*/ 2162629 w 2264230"/>
              <a:gd name="connsiteY3" fmla="*/ 166043 h 449943"/>
              <a:gd name="connsiteX4" fmla="*/ 2264230 w 2264230"/>
              <a:gd name="connsiteY4" fmla="*/ 224971 h 449943"/>
              <a:gd name="connsiteX5" fmla="*/ 2162629 w 2264230"/>
              <a:gd name="connsiteY5" fmla="*/ 283900 h 449943"/>
              <a:gd name="connsiteX6" fmla="*/ 2162629 w 2264230"/>
              <a:gd name="connsiteY6" fmla="*/ 374951 h 449943"/>
              <a:gd name="connsiteX7" fmla="*/ 2087637 w 2264230"/>
              <a:gd name="connsiteY7" fmla="*/ 449943 h 449943"/>
              <a:gd name="connsiteX8" fmla="*/ 74992 w 2264230"/>
              <a:gd name="connsiteY8" fmla="*/ 449943 h 449943"/>
              <a:gd name="connsiteX9" fmla="*/ 0 w 2264230"/>
              <a:gd name="connsiteY9" fmla="*/ 374951 h 449943"/>
              <a:gd name="connsiteX10" fmla="*/ 0 w 2264230"/>
              <a:gd name="connsiteY10" fmla="*/ 74992 h 449943"/>
              <a:gd name="connsiteX11" fmla="*/ 74992 w 2264230"/>
              <a:gd name="connsiteY11" fmla="*/ 0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4230" h="449942">
                <a:moveTo>
                  <a:pt x="74992" y="0"/>
                </a:moveTo>
                <a:lnTo>
                  <a:pt x="2087637" y="0"/>
                </a:lnTo>
                <a:cubicBezTo>
                  <a:pt x="2129054" y="0"/>
                  <a:pt x="2162629" y="33575"/>
                  <a:pt x="2162629" y="74992"/>
                </a:cubicBezTo>
                <a:lnTo>
                  <a:pt x="2162629" y="166043"/>
                </a:lnTo>
                <a:lnTo>
                  <a:pt x="2264230" y="224971"/>
                </a:lnTo>
                <a:lnTo>
                  <a:pt x="2162629" y="283900"/>
                </a:lnTo>
                <a:lnTo>
                  <a:pt x="2162629" y="374951"/>
                </a:lnTo>
                <a:cubicBezTo>
                  <a:pt x="2162629" y="416368"/>
                  <a:pt x="2129054" y="449943"/>
                  <a:pt x="2087637" y="449943"/>
                </a:cubicBezTo>
                <a:lnTo>
                  <a:pt x="74992" y="449943"/>
                </a:lnTo>
                <a:cubicBezTo>
                  <a:pt x="33575" y="449943"/>
                  <a:pt x="0" y="416368"/>
                  <a:pt x="0" y="374951"/>
                </a:cubicBezTo>
                <a:lnTo>
                  <a:pt x="0" y="74992"/>
                </a:lnTo>
                <a:cubicBezTo>
                  <a:pt x="0" y="33575"/>
                  <a:pt x="33575" y="0"/>
                  <a:pt x="74992" y="0"/>
                </a:cubicBezTo>
                <a:close/>
              </a:path>
            </a:pathLst>
          </a:cu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FZZhengHeiS-DB-GB" panose="02000000000000000000" pitchFamily="2" charset="0"/>
                <a:ea typeface="FZZhengHeiS-DB-GB" panose="02000000000000000000" pitchFamily="2" charset="0"/>
              </a:rPr>
              <a:t>任务创建</a:t>
            </a:r>
            <a:r>
              <a:rPr lang="en-US" altLang="zh-CN" dirty="0">
                <a:latin typeface="FZZhengHeiS-DB-GB" panose="02000000000000000000" pitchFamily="2" charset="0"/>
                <a:ea typeface="FZZhengHeiS-DB-GB" panose="02000000000000000000" pitchFamily="2" charset="0"/>
              </a:rPr>
              <a:t>+</a:t>
            </a:r>
            <a:r>
              <a:rPr lang="zh-CN" altLang="en-US" dirty="0">
                <a:latin typeface="FZZhengHeiS-DB-GB" panose="02000000000000000000" pitchFamily="2" charset="0"/>
                <a:ea typeface="FZZhengHeiS-DB-GB" panose="02000000000000000000" pitchFamily="2" charset="0"/>
              </a:rPr>
              <a:t>执行</a:t>
            </a:r>
            <a:endParaRPr lang="en-US" altLang="zh-CN" dirty="0">
              <a:latin typeface="FZZhengHeiS-DB-GB" panose="02000000000000000000" pitchFamily="2" charset="0"/>
              <a:ea typeface="FZZhengHeiS-DB-GB" panose="02000000000000000000" pitchFamily="2" charset="0"/>
            </a:endParaRPr>
          </a:p>
        </p:txBody>
      </p:sp>
      <p:sp>
        <p:nvSpPr>
          <p:cNvPr id="19" name="任意多边形 18">
            <a:extLst>
              <a:ext uri="{FF2B5EF4-FFF2-40B4-BE49-F238E27FC236}">
                <a16:creationId xmlns:a16="http://schemas.microsoft.com/office/drawing/2014/main" id="{7CFFE24B-BBFB-796D-876E-D04EC69E058F}"/>
              </a:ext>
            </a:extLst>
          </p:cNvPr>
          <p:cNvSpPr/>
          <p:nvPr/>
        </p:nvSpPr>
        <p:spPr>
          <a:xfrm rot="10800000" flipV="1">
            <a:off x="7437119" y="2972953"/>
            <a:ext cx="2691573" cy="440146"/>
          </a:xfrm>
          <a:custGeom>
            <a:avLst/>
            <a:gdLst>
              <a:gd name="connsiteX0" fmla="*/ 74992 w 2264230"/>
              <a:gd name="connsiteY0" fmla="*/ 0 h 449943"/>
              <a:gd name="connsiteX1" fmla="*/ 2087637 w 2264230"/>
              <a:gd name="connsiteY1" fmla="*/ 0 h 449943"/>
              <a:gd name="connsiteX2" fmla="*/ 2162629 w 2264230"/>
              <a:gd name="connsiteY2" fmla="*/ 74992 h 449943"/>
              <a:gd name="connsiteX3" fmla="*/ 2162629 w 2264230"/>
              <a:gd name="connsiteY3" fmla="*/ 166043 h 449943"/>
              <a:gd name="connsiteX4" fmla="*/ 2264230 w 2264230"/>
              <a:gd name="connsiteY4" fmla="*/ 224971 h 449943"/>
              <a:gd name="connsiteX5" fmla="*/ 2162629 w 2264230"/>
              <a:gd name="connsiteY5" fmla="*/ 283900 h 449943"/>
              <a:gd name="connsiteX6" fmla="*/ 2162629 w 2264230"/>
              <a:gd name="connsiteY6" fmla="*/ 374951 h 449943"/>
              <a:gd name="connsiteX7" fmla="*/ 2087637 w 2264230"/>
              <a:gd name="connsiteY7" fmla="*/ 449943 h 449943"/>
              <a:gd name="connsiteX8" fmla="*/ 74992 w 2264230"/>
              <a:gd name="connsiteY8" fmla="*/ 449943 h 449943"/>
              <a:gd name="connsiteX9" fmla="*/ 0 w 2264230"/>
              <a:gd name="connsiteY9" fmla="*/ 374951 h 449943"/>
              <a:gd name="connsiteX10" fmla="*/ 0 w 2264230"/>
              <a:gd name="connsiteY10" fmla="*/ 74992 h 449943"/>
              <a:gd name="connsiteX11" fmla="*/ 74992 w 2264230"/>
              <a:gd name="connsiteY11" fmla="*/ 0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4230" h="449942">
                <a:moveTo>
                  <a:pt x="74992" y="0"/>
                </a:moveTo>
                <a:lnTo>
                  <a:pt x="2087637" y="0"/>
                </a:lnTo>
                <a:cubicBezTo>
                  <a:pt x="2129054" y="0"/>
                  <a:pt x="2162629" y="33575"/>
                  <a:pt x="2162629" y="74992"/>
                </a:cubicBezTo>
                <a:lnTo>
                  <a:pt x="2162629" y="166043"/>
                </a:lnTo>
                <a:lnTo>
                  <a:pt x="2264230" y="224971"/>
                </a:lnTo>
                <a:lnTo>
                  <a:pt x="2162629" y="283900"/>
                </a:lnTo>
                <a:lnTo>
                  <a:pt x="2162629" y="374951"/>
                </a:lnTo>
                <a:cubicBezTo>
                  <a:pt x="2162629" y="416368"/>
                  <a:pt x="2129054" y="449943"/>
                  <a:pt x="2087637" y="449943"/>
                </a:cubicBezTo>
                <a:lnTo>
                  <a:pt x="74992" y="449943"/>
                </a:lnTo>
                <a:cubicBezTo>
                  <a:pt x="33575" y="449943"/>
                  <a:pt x="0" y="416368"/>
                  <a:pt x="0" y="374951"/>
                </a:cubicBezTo>
                <a:lnTo>
                  <a:pt x="0" y="74992"/>
                </a:lnTo>
                <a:cubicBezTo>
                  <a:pt x="0" y="33575"/>
                  <a:pt x="33575" y="0"/>
                  <a:pt x="74992" y="0"/>
                </a:cubicBezTo>
                <a:close/>
              </a:path>
            </a:pathLst>
          </a:cu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FZZhengHeiS-DB-GB" panose="02000000000000000000" pitchFamily="2" charset="0"/>
                <a:ea typeface="FZZhengHeiS-DB-GB" panose="02000000000000000000" pitchFamily="2" charset="0"/>
              </a:rPr>
              <a:t>用例维护</a:t>
            </a:r>
            <a:endParaRPr lang="en-US" altLang="zh-CN" dirty="0">
              <a:latin typeface="FZZhengHeiS-DB-GB" panose="02000000000000000000" pitchFamily="2" charset="0"/>
              <a:ea typeface="FZZhengHeiS-DB-GB" panose="02000000000000000000" pitchFamily="2" charset="0"/>
            </a:endParaRPr>
          </a:p>
        </p:txBody>
      </p:sp>
      <p:sp>
        <p:nvSpPr>
          <p:cNvPr id="20" name="任意多边形 19">
            <a:extLst>
              <a:ext uri="{FF2B5EF4-FFF2-40B4-BE49-F238E27FC236}">
                <a16:creationId xmlns:a16="http://schemas.microsoft.com/office/drawing/2014/main" id="{2DD2CD0C-ACCE-2E0A-3218-47DB39B8FDFA}"/>
              </a:ext>
            </a:extLst>
          </p:cNvPr>
          <p:cNvSpPr/>
          <p:nvPr/>
        </p:nvSpPr>
        <p:spPr>
          <a:xfrm rot="10800000" flipV="1">
            <a:off x="7421879" y="5576270"/>
            <a:ext cx="2706811" cy="440146"/>
          </a:xfrm>
          <a:custGeom>
            <a:avLst/>
            <a:gdLst>
              <a:gd name="connsiteX0" fmla="*/ 74992 w 2264230"/>
              <a:gd name="connsiteY0" fmla="*/ 0 h 449943"/>
              <a:gd name="connsiteX1" fmla="*/ 2087637 w 2264230"/>
              <a:gd name="connsiteY1" fmla="*/ 0 h 449943"/>
              <a:gd name="connsiteX2" fmla="*/ 2162629 w 2264230"/>
              <a:gd name="connsiteY2" fmla="*/ 74992 h 449943"/>
              <a:gd name="connsiteX3" fmla="*/ 2162629 w 2264230"/>
              <a:gd name="connsiteY3" fmla="*/ 166043 h 449943"/>
              <a:gd name="connsiteX4" fmla="*/ 2264230 w 2264230"/>
              <a:gd name="connsiteY4" fmla="*/ 224971 h 449943"/>
              <a:gd name="connsiteX5" fmla="*/ 2162629 w 2264230"/>
              <a:gd name="connsiteY5" fmla="*/ 283900 h 449943"/>
              <a:gd name="connsiteX6" fmla="*/ 2162629 w 2264230"/>
              <a:gd name="connsiteY6" fmla="*/ 374951 h 449943"/>
              <a:gd name="connsiteX7" fmla="*/ 2087637 w 2264230"/>
              <a:gd name="connsiteY7" fmla="*/ 449943 h 449943"/>
              <a:gd name="connsiteX8" fmla="*/ 74992 w 2264230"/>
              <a:gd name="connsiteY8" fmla="*/ 449943 h 449943"/>
              <a:gd name="connsiteX9" fmla="*/ 0 w 2264230"/>
              <a:gd name="connsiteY9" fmla="*/ 374951 h 449943"/>
              <a:gd name="connsiteX10" fmla="*/ 0 w 2264230"/>
              <a:gd name="connsiteY10" fmla="*/ 74992 h 449943"/>
              <a:gd name="connsiteX11" fmla="*/ 74992 w 2264230"/>
              <a:gd name="connsiteY11" fmla="*/ 0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4230" h="449942">
                <a:moveTo>
                  <a:pt x="74992" y="0"/>
                </a:moveTo>
                <a:lnTo>
                  <a:pt x="2087637" y="0"/>
                </a:lnTo>
                <a:cubicBezTo>
                  <a:pt x="2129054" y="0"/>
                  <a:pt x="2162629" y="33575"/>
                  <a:pt x="2162629" y="74992"/>
                </a:cubicBezTo>
                <a:lnTo>
                  <a:pt x="2162629" y="166043"/>
                </a:lnTo>
                <a:lnTo>
                  <a:pt x="2264230" y="224971"/>
                </a:lnTo>
                <a:lnTo>
                  <a:pt x="2162629" y="283900"/>
                </a:lnTo>
                <a:lnTo>
                  <a:pt x="2162629" y="374951"/>
                </a:lnTo>
                <a:cubicBezTo>
                  <a:pt x="2162629" y="416368"/>
                  <a:pt x="2129054" y="449943"/>
                  <a:pt x="2087637" y="449943"/>
                </a:cubicBezTo>
                <a:lnTo>
                  <a:pt x="74992" y="449943"/>
                </a:lnTo>
                <a:cubicBezTo>
                  <a:pt x="33575" y="449943"/>
                  <a:pt x="0" y="416368"/>
                  <a:pt x="0" y="374951"/>
                </a:cubicBezTo>
                <a:lnTo>
                  <a:pt x="0" y="74992"/>
                </a:lnTo>
                <a:cubicBezTo>
                  <a:pt x="0" y="33575"/>
                  <a:pt x="33575" y="0"/>
                  <a:pt x="74992" y="0"/>
                </a:cubicBezTo>
                <a:close/>
              </a:path>
            </a:pathLst>
          </a:cu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FZZhengHeiS-DB-GB" panose="02000000000000000000" pitchFamily="2" charset="0"/>
                <a:ea typeface="FZZhengHeiS-DB-GB" panose="02000000000000000000" pitchFamily="2" charset="0"/>
              </a:rPr>
              <a:t>报告汇总</a:t>
            </a:r>
            <a:endParaRPr lang="en-US" altLang="zh-CN" dirty="0">
              <a:latin typeface="FZZhengHeiS-DB-GB" panose="02000000000000000000" pitchFamily="2" charset="0"/>
              <a:ea typeface="FZZhengHeiS-DB-GB" panose="02000000000000000000" pitchFamily="2" charset="0"/>
            </a:endParaRPr>
          </a:p>
        </p:txBody>
      </p:sp>
      <p:cxnSp>
        <p:nvCxnSpPr>
          <p:cNvPr id="21" name="直接连接符 20">
            <a:extLst>
              <a:ext uri="{FF2B5EF4-FFF2-40B4-BE49-F238E27FC236}">
                <a16:creationId xmlns:a16="http://schemas.microsoft.com/office/drawing/2014/main" id="{F795B7C4-175D-FAE8-8590-4B5209556A3D}"/>
              </a:ext>
            </a:extLst>
          </p:cNvPr>
          <p:cNvCxnSpPr>
            <a:endCxn id="13" idx="2"/>
          </p:cNvCxnSpPr>
          <p:nvPr/>
        </p:nvCxnSpPr>
        <p:spPr>
          <a:xfrm>
            <a:off x="4731658" y="1877064"/>
            <a:ext cx="1211942" cy="0"/>
          </a:xfrm>
          <a:prstGeom prst="line">
            <a:avLst/>
          </a:prstGeom>
          <a:ln w="25400">
            <a:solidFill>
              <a:srgbClr val="1C4885"/>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54B0DB13-9F43-BFD8-26B5-7D19A014CE09}"/>
              </a:ext>
            </a:extLst>
          </p:cNvPr>
          <p:cNvCxnSpPr/>
          <p:nvPr/>
        </p:nvCxnSpPr>
        <p:spPr>
          <a:xfrm flipV="1">
            <a:off x="6282510" y="3185891"/>
            <a:ext cx="1166222" cy="15239"/>
          </a:xfrm>
          <a:prstGeom prst="line">
            <a:avLst/>
          </a:prstGeom>
          <a:ln w="25400">
            <a:solidFill>
              <a:srgbClr val="1C4885"/>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63F3B4AF-79A2-B0FC-965C-D59D9BD32A78}"/>
              </a:ext>
            </a:extLst>
          </p:cNvPr>
          <p:cNvCxnSpPr/>
          <p:nvPr/>
        </p:nvCxnSpPr>
        <p:spPr>
          <a:xfrm flipV="1">
            <a:off x="6297749" y="5778625"/>
            <a:ext cx="1166222" cy="15239"/>
          </a:xfrm>
          <a:prstGeom prst="line">
            <a:avLst/>
          </a:prstGeom>
          <a:ln w="25400">
            <a:solidFill>
              <a:srgbClr val="1C4885"/>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13E3D2B1-CCAC-ED78-E9A3-6F9C25BA88AE}"/>
              </a:ext>
            </a:extLst>
          </p:cNvPr>
          <p:cNvCxnSpPr>
            <a:endCxn id="16" idx="2"/>
          </p:cNvCxnSpPr>
          <p:nvPr/>
        </p:nvCxnSpPr>
        <p:spPr>
          <a:xfrm flipV="1">
            <a:off x="4743269" y="4508988"/>
            <a:ext cx="1193074" cy="15239"/>
          </a:xfrm>
          <a:prstGeom prst="line">
            <a:avLst/>
          </a:prstGeom>
          <a:ln w="25400">
            <a:solidFill>
              <a:srgbClr val="1C4885"/>
            </a:solidFill>
            <a:prstDash val="dash"/>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FAF01FE0-7074-4684-AE65-BC6F996F25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76932" y="356212"/>
            <a:ext cx="834225" cy="834225"/>
          </a:xfrm>
          <a:prstGeom prst="rect">
            <a:avLst/>
          </a:prstGeom>
        </p:spPr>
      </p:pic>
    </p:spTree>
    <p:extLst>
      <p:ext uri="{BB962C8B-B14F-4D97-AF65-F5344CB8AC3E}">
        <p14:creationId xmlns:p14="http://schemas.microsoft.com/office/powerpoint/2010/main" val="2755369895"/>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403122" y="449825"/>
            <a:ext cx="11385755" cy="5958349"/>
          </a:xfrm>
          <a:prstGeom prst="roundRect">
            <a:avLst>
              <a:gd name="adj" fmla="val 1568"/>
            </a:avLst>
          </a:prstGeom>
          <a:solidFill>
            <a:schemeClr val="bg1"/>
          </a:solidFill>
          <a:ln>
            <a:noFill/>
          </a:ln>
          <a:effectLst>
            <a:glow rad="228600">
              <a:srgbClr val="02615A">
                <a:alpha val="3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887301" y="2420811"/>
            <a:ext cx="1592179" cy="1592179"/>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800" b="1">
                <a:solidFill>
                  <a:schemeClr val="bg1"/>
                </a:solidFill>
                <a:latin typeface="FuturaBookC" pitchFamily="2" charset="-52"/>
              </a:rPr>
              <a:t>4</a:t>
            </a:r>
          </a:p>
        </p:txBody>
      </p:sp>
      <p:sp>
        <p:nvSpPr>
          <p:cNvPr id="8" name="文本框 7"/>
          <p:cNvSpPr txBox="1"/>
          <p:nvPr/>
        </p:nvSpPr>
        <p:spPr>
          <a:xfrm>
            <a:off x="4476985" y="2420811"/>
            <a:ext cx="5760360" cy="762000"/>
          </a:xfrm>
          <a:prstGeom prst="rect">
            <a:avLst/>
          </a:prstGeom>
          <a:noFill/>
        </p:spPr>
        <p:txBody>
          <a:bodyPr wrap="square" rtlCol="0">
            <a:spAutoFit/>
          </a:bodyPr>
          <a:lstStyle/>
          <a:p>
            <a:pPr algn="dist"/>
            <a:r>
              <a:rPr lang="zh-CN" altLang="en-US" sz="4400" dirty="0">
                <a:solidFill>
                  <a:srgbClr val="1C4885"/>
                </a:solidFill>
                <a:latin typeface="FZZhengHeiS-DB-GB" panose="02000000000000000000" pitchFamily="2" charset="0"/>
                <a:ea typeface="FZZhengHeiS-DB-GB" panose="02000000000000000000" pitchFamily="2" charset="0"/>
              </a:rPr>
              <a:t>总结与展望</a:t>
            </a:r>
          </a:p>
        </p:txBody>
      </p:sp>
      <p:cxnSp>
        <p:nvCxnSpPr>
          <p:cNvPr id="9" name="直接连接符 8"/>
          <p:cNvCxnSpPr/>
          <p:nvPr/>
        </p:nvCxnSpPr>
        <p:spPr>
          <a:xfrm>
            <a:off x="4663554" y="3428999"/>
            <a:ext cx="1112406"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4394762" y="3674436"/>
            <a:ext cx="3402474" cy="338554"/>
          </a:xfrm>
          <a:prstGeom prst="rect">
            <a:avLst/>
          </a:prstGeom>
          <a:noFill/>
        </p:spPr>
        <p:txBody>
          <a:bodyPr wrap="square" rtlCol="0">
            <a:spAutoFit/>
          </a:bodyPr>
          <a:lstStyle/>
          <a:p>
            <a:pPr algn="ctr"/>
            <a:r>
              <a:rPr lang="en-US" altLang="zh-CN" sz="1600" dirty="0">
                <a:solidFill>
                  <a:schemeClr val="tx1">
                    <a:lumMod val="85000"/>
                    <a:lumOff val="15000"/>
                  </a:schemeClr>
                </a:solidFill>
                <a:latin typeface="FuturaBookC" pitchFamily="2" charset="-52"/>
                <a:ea typeface="锐字逼格青春粗黑体简2.0" panose="02010604000000000000" pitchFamily="2" charset="-122"/>
              </a:rPr>
              <a:t>Final summary and future prospects</a:t>
            </a:r>
          </a:p>
        </p:txBody>
      </p:sp>
      <p:pic>
        <p:nvPicPr>
          <p:cNvPr id="2" name="图片 1">
            <a:extLst>
              <a:ext uri="{FF2B5EF4-FFF2-40B4-BE49-F238E27FC236}">
                <a16:creationId xmlns:a16="http://schemas.microsoft.com/office/drawing/2014/main" id="{8F730CAA-B8EC-9C86-77F9-C9C95C196B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39242" y="738438"/>
            <a:ext cx="834225" cy="834225"/>
          </a:xfrm>
          <a:prstGeom prst="rect">
            <a:avLst/>
          </a:prstGeom>
        </p:spPr>
      </p:pic>
    </p:spTree>
    <p:extLst>
      <p:ext uri="{BB962C8B-B14F-4D97-AF65-F5344CB8AC3E}">
        <p14:creationId xmlns:p14="http://schemas.microsoft.com/office/powerpoint/2010/main" val="2881436233"/>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413" y="424125"/>
            <a:ext cx="2158279" cy="523220"/>
          </a:xfrm>
          <a:prstGeom prst="rect">
            <a:avLst/>
          </a:prstGeom>
          <a:noFill/>
        </p:spPr>
        <p:txBody>
          <a:bodyPr wrap="square" rtlCol="0">
            <a:spAutoFit/>
          </a:bodyPr>
          <a:lstStyle/>
          <a:p>
            <a:pPr algn="ctr"/>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总结与展望</a:t>
            </a:r>
          </a:p>
        </p:txBody>
      </p:sp>
      <p:sp>
        <p:nvSpPr>
          <p:cNvPr id="5" name="文本框 4"/>
          <p:cNvSpPr txBox="1"/>
          <p:nvPr/>
        </p:nvSpPr>
        <p:spPr>
          <a:xfrm>
            <a:off x="904649" y="840662"/>
            <a:ext cx="3088853" cy="307777"/>
          </a:xfrm>
          <a:prstGeom prst="rect">
            <a:avLst/>
          </a:prstGeom>
          <a:noFill/>
        </p:spPr>
        <p:txBody>
          <a:bodyPr wrap="square" rtlCol="0">
            <a:spAutoFit/>
          </a:bodyPr>
          <a:lstStyle/>
          <a:p>
            <a:pPr algn="dist"/>
            <a:r>
              <a:rPr lang="zh-CN" altLang="en-US" sz="1400" dirty="0">
                <a:solidFill>
                  <a:schemeClr val="tx1">
                    <a:lumMod val="85000"/>
                    <a:lumOff val="15000"/>
                  </a:schemeClr>
                </a:solidFill>
                <a:latin typeface="FuturaBookC" charset="-52"/>
                <a:ea typeface="微软雅黑" panose="020B0503020204020204" pitchFamily="34" charset="-122"/>
              </a:rPr>
              <a:t>项目总结和对未来的展望</a:t>
            </a:r>
            <a:endParaRPr lang="en-US" altLang="zh-CN" sz="1400" dirty="0">
              <a:solidFill>
                <a:schemeClr val="tx1">
                  <a:lumMod val="85000"/>
                  <a:lumOff val="15000"/>
                </a:schemeClr>
              </a:solidFill>
              <a:latin typeface="FuturaBookC" charset="-52"/>
              <a:ea typeface="微软雅黑" panose="020B0503020204020204" pitchFamily="34" charset="-122"/>
            </a:endParaRPr>
          </a:p>
        </p:txBody>
      </p:sp>
      <p:cxnSp>
        <p:nvCxnSpPr>
          <p:cNvPr id="6" name="直接连接符 5"/>
          <p:cNvCxnSpPr/>
          <p:nvPr/>
        </p:nvCxnSpPr>
        <p:spPr>
          <a:xfrm flipH="1">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sp>
        <p:nvSpPr>
          <p:cNvPr id="8" name="上箭头 7"/>
          <p:cNvSpPr/>
          <p:nvPr/>
        </p:nvSpPr>
        <p:spPr>
          <a:xfrm>
            <a:off x="4717507" y="1088721"/>
            <a:ext cx="820057" cy="3367314"/>
          </a:xfrm>
          <a:prstGeom prst="upArrow">
            <a:avLst>
              <a:gd name="adj1" fmla="val 50000"/>
              <a:gd name="adj2" fmla="val 180974"/>
            </a:avLst>
          </a:prstGeom>
          <a:solidFill>
            <a:srgbClr val="BFBFB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逼格青春粗黑体简2.0" panose="02010604000000000000" pitchFamily="2" charset="-122"/>
              <a:ea typeface="锐字逼格青春粗黑体简2.0" panose="02010604000000000000" pitchFamily="2" charset="-122"/>
            </a:endParaRPr>
          </a:p>
        </p:txBody>
      </p:sp>
      <p:sp>
        <p:nvSpPr>
          <p:cNvPr id="9" name="上箭头 8"/>
          <p:cNvSpPr/>
          <p:nvPr/>
        </p:nvSpPr>
        <p:spPr>
          <a:xfrm>
            <a:off x="6563086" y="1596722"/>
            <a:ext cx="820057" cy="2873828"/>
          </a:xfrm>
          <a:prstGeom prst="upArrow">
            <a:avLst>
              <a:gd name="adj1" fmla="val 50000"/>
              <a:gd name="adj2" fmla="val 180974"/>
            </a:avLst>
          </a:prstGeom>
          <a:solidFill>
            <a:srgbClr val="1C488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逼格青春粗黑体简2.0" panose="02010604000000000000" pitchFamily="2" charset="-122"/>
              <a:ea typeface="锐字逼格青春粗黑体简2.0" panose="02010604000000000000" pitchFamily="2" charset="-122"/>
            </a:endParaRPr>
          </a:p>
        </p:txBody>
      </p:sp>
      <p:sp>
        <p:nvSpPr>
          <p:cNvPr id="10" name="上箭头 9"/>
          <p:cNvSpPr/>
          <p:nvPr/>
        </p:nvSpPr>
        <p:spPr>
          <a:xfrm>
            <a:off x="5989773" y="2104721"/>
            <a:ext cx="820057" cy="2365829"/>
          </a:xfrm>
          <a:prstGeom prst="upArrow">
            <a:avLst>
              <a:gd name="adj1" fmla="val 50000"/>
              <a:gd name="adj2" fmla="val 180974"/>
            </a:avLst>
          </a:prstGeom>
          <a:solidFill>
            <a:srgbClr val="BFBFB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逼格青春粗黑体简2.0" panose="02010604000000000000" pitchFamily="2" charset="-122"/>
              <a:ea typeface="锐字逼格青春粗黑体简2.0" panose="02010604000000000000" pitchFamily="2" charset="-122"/>
            </a:endParaRPr>
          </a:p>
        </p:txBody>
      </p:sp>
      <p:sp>
        <p:nvSpPr>
          <p:cNvPr id="11" name="上箭头 10"/>
          <p:cNvSpPr/>
          <p:nvPr/>
        </p:nvSpPr>
        <p:spPr>
          <a:xfrm>
            <a:off x="5280621" y="558953"/>
            <a:ext cx="820057" cy="3911598"/>
          </a:xfrm>
          <a:prstGeom prst="upArrow">
            <a:avLst>
              <a:gd name="adj1" fmla="val 50000"/>
              <a:gd name="adj2" fmla="val 180974"/>
            </a:avLst>
          </a:prstGeom>
          <a:solidFill>
            <a:srgbClr val="1C488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逼格青春粗黑体简2.0" panose="02010604000000000000" pitchFamily="2" charset="-122"/>
              <a:ea typeface="锐字逼格青春粗黑体简2.0" panose="02010604000000000000" pitchFamily="2" charset="-122"/>
            </a:endParaRPr>
          </a:p>
        </p:txBody>
      </p:sp>
      <p:sp>
        <p:nvSpPr>
          <p:cNvPr id="12" name="任意多边形 11"/>
          <p:cNvSpPr/>
          <p:nvPr/>
        </p:nvSpPr>
        <p:spPr>
          <a:xfrm>
            <a:off x="3885746" y="4456035"/>
            <a:ext cx="1446804" cy="791031"/>
          </a:xfrm>
          <a:custGeom>
            <a:avLst/>
            <a:gdLst>
              <a:gd name="connsiteX0" fmla="*/ 1031189 w 1446804"/>
              <a:gd name="connsiteY0" fmla="*/ 0 h 791031"/>
              <a:gd name="connsiteX1" fmla="*/ 1446804 w 1446804"/>
              <a:gd name="connsiteY1" fmla="*/ 0 h 791031"/>
              <a:gd name="connsiteX2" fmla="*/ 415615 w 1446804"/>
              <a:gd name="connsiteY2" fmla="*/ 791031 h 791031"/>
              <a:gd name="connsiteX3" fmla="*/ 0 w 1446804"/>
              <a:gd name="connsiteY3" fmla="*/ 791031 h 791031"/>
            </a:gdLst>
            <a:ahLst/>
            <a:cxnLst>
              <a:cxn ang="0">
                <a:pos x="connsiteX0" y="connsiteY0"/>
              </a:cxn>
              <a:cxn ang="0">
                <a:pos x="connsiteX1" y="connsiteY1"/>
              </a:cxn>
              <a:cxn ang="0">
                <a:pos x="connsiteX2" y="connsiteY2"/>
              </a:cxn>
              <a:cxn ang="0">
                <a:pos x="connsiteX3" y="connsiteY3"/>
              </a:cxn>
            </a:cxnLst>
            <a:rect l="l" t="t" r="r" b="b"/>
            <a:pathLst>
              <a:path w="1446804" h="791031">
                <a:moveTo>
                  <a:pt x="1031189" y="0"/>
                </a:moveTo>
                <a:lnTo>
                  <a:pt x="1446804" y="0"/>
                </a:lnTo>
                <a:lnTo>
                  <a:pt x="415615" y="791031"/>
                </a:lnTo>
                <a:lnTo>
                  <a:pt x="0" y="791031"/>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任意多边形 12"/>
          <p:cNvSpPr/>
          <p:nvPr/>
        </p:nvSpPr>
        <p:spPr>
          <a:xfrm flipH="1">
            <a:off x="6769108" y="4470550"/>
            <a:ext cx="1381828" cy="776516"/>
          </a:xfrm>
          <a:custGeom>
            <a:avLst/>
            <a:gdLst>
              <a:gd name="connsiteX0" fmla="*/ 1381828 w 1381828"/>
              <a:gd name="connsiteY0" fmla="*/ 0 h 776516"/>
              <a:gd name="connsiteX1" fmla="*/ 979618 w 1381828"/>
              <a:gd name="connsiteY1" fmla="*/ 0 h 776516"/>
              <a:gd name="connsiteX2" fmla="*/ 0 w 1381828"/>
              <a:gd name="connsiteY2" fmla="*/ 776516 h 776516"/>
              <a:gd name="connsiteX3" fmla="*/ 402210 w 1381828"/>
              <a:gd name="connsiteY3" fmla="*/ 776516 h 776516"/>
            </a:gdLst>
            <a:ahLst/>
            <a:cxnLst>
              <a:cxn ang="0">
                <a:pos x="connsiteX0" y="connsiteY0"/>
              </a:cxn>
              <a:cxn ang="0">
                <a:pos x="connsiteX1" y="connsiteY1"/>
              </a:cxn>
              <a:cxn ang="0">
                <a:pos x="connsiteX2" y="connsiteY2"/>
              </a:cxn>
              <a:cxn ang="0">
                <a:pos x="connsiteX3" y="connsiteY3"/>
              </a:cxn>
            </a:cxnLst>
            <a:rect l="l" t="t" r="r" b="b"/>
            <a:pathLst>
              <a:path w="1381828" h="776516">
                <a:moveTo>
                  <a:pt x="1381828" y="0"/>
                </a:moveTo>
                <a:lnTo>
                  <a:pt x="979618" y="0"/>
                </a:lnTo>
                <a:lnTo>
                  <a:pt x="0" y="776516"/>
                </a:lnTo>
                <a:lnTo>
                  <a:pt x="402210" y="776516"/>
                </a:lnTo>
                <a:close/>
              </a:path>
            </a:pathLst>
          </a:cu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任意多边形 13"/>
          <p:cNvSpPr/>
          <p:nvPr/>
        </p:nvSpPr>
        <p:spPr>
          <a:xfrm>
            <a:off x="5365294" y="4411792"/>
            <a:ext cx="650084" cy="835275"/>
          </a:xfrm>
          <a:custGeom>
            <a:avLst/>
            <a:gdLst>
              <a:gd name="connsiteX0" fmla="*/ 129013 w 650084"/>
              <a:gd name="connsiteY0" fmla="*/ 0 h 835275"/>
              <a:gd name="connsiteX1" fmla="*/ 521070 w 650084"/>
              <a:gd name="connsiteY1" fmla="*/ 0 h 835275"/>
              <a:gd name="connsiteX2" fmla="*/ 650084 w 650084"/>
              <a:gd name="connsiteY2" fmla="*/ 835275 h 835275"/>
              <a:gd name="connsiteX3" fmla="*/ 0 w 650084"/>
              <a:gd name="connsiteY3" fmla="*/ 835275 h 835275"/>
            </a:gdLst>
            <a:ahLst/>
            <a:cxnLst>
              <a:cxn ang="0">
                <a:pos x="connsiteX0" y="connsiteY0"/>
              </a:cxn>
              <a:cxn ang="0">
                <a:pos x="connsiteX1" y="connsiteY1"/>
              </a:cxn>
              <a:cxn ang="0">
                <a:pos x="connsiteX2" y="connsiteY2"/>
              </a:cxn>
              <a:cxn ang="0">
                <a:pos x="connsiteX3" y="connsiteY3"/>
              </a:cxn>
            </a:cxnLst>
            <a:rect l="l" t="t" r="r" b="b"/>
            <a:pathLst>
              <a:path w="650084" h="835275">
                <a:moveTo>
                  <a:pt x="129013" y="0"/>
                </a:moveTo>
                <a:lnTo>
                  <a:pt x="521070" y="0"/>
                </a:lnTo>
                <a:lnTo>
                  <a:pt x="650084" y="835275"/>
                </a:lnTo>
                <a:lnTo>
                  <a:pt x="0" y="835275"/>
                </a:lnTo>
                <a:close/>
              </a:path>
            </a:pathLst>
          </a:cu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4"/>
          <p:cNvSpPr/>
          <p:nvPr/>
        </p:nvSpPr>
        <p:spPr>
          <a:xfrm flipH="1">
            <a:off x="6183612" y="4456035"/>
            <a:ext cx="858228" cy="791031"/>
          </a:xfrm>
          <a:custGeom>
            <a:avLst/>
            <a:gdLst>
              <a:gd name="connsiteX0" fmla="*/ 858228 w 858228"/>
              <a:gd name="connsiteY0" fmla="*/ 0 h 791031"/>
              <a:gd name="connsiteX1" fmla="*/ 448189 w 858228"/>
              <a:gd name="connsiteY1" fmla="*/ 0 h 791031"/>
              <a:gd name="connsiteX2" fmla="*/ 0 w 858228"/>
              <a:gd name="connsiteY2" fmla="*/ 791031 h 791031"/>
              <a:gd name="connsiteX3" fmla="*/ 410039 w 858228"/>
              <a:gd name="connsiteY3" fmla="*/ 791031 h 791031"/>
            </a:gdLst>
            <a:ahLst/>
            <a:cxnLst>
              <a:cxn ang="0">
                <a:pos x="connsiteX0" y="connsiteY0"/>
              </a:cxn>
              <a:cxn ang="0">
                <a:pos x="connsiteX1" y="connsiteY1"/>
              </a:cxn>
              <a:cxn ang="0">
                <a:pos x="connsiteX2" y="connsiteY2"/>
              </a:cxn>
              <a:cxn ang="0">
                <a:pos x="connsiteX3" y="connsiteY3"/>
              </a:cxn>
            </a:cxnLst>
            <a:rect l="l" t="t" r="r" b="b"/>
            <a:pathLst>
              <a:path w="858228" h="791031">
                <a:moveTo>
                  <a:pt x="858228" y="0"/>
                </a:moveTo>
                <a:lnTo>
                  <a:pt x="448189" y="0"/>
                </a:lnTo>
                <a:lnTo>
                  <a:pt x="0" y="791031"/>
                </a:lnTo>
                <a:lnTo>
                  <a:pt x="410039" y="791031"/>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925867" y="1910604"/>
            <a:ext cx="2225040" cy="365760"/>
          </a:xfrm>
          <a:prstGeom prst="rect">
            <a:avLst/>
          </a:prstGeom>
          <a:noFill/>
        </p:spPr>
        <p:txBody>
          <a:bodyPr wrap="square" rtlCol="0">
            <a:spAutoFit/>
          </a:bodyPr>
          <a:lstStyle/>
          <a:p>
            <a:pPr algn="r"/>
            <a:r>
              <a:rPr lang="zh-CN" altLang="en-US" dirty="0">
                <a:solidFill>
                  <a:schemeClr val="tx1">
                    <a:lumMod val="75000"/>
                    <a:lumOff val="25000"/>
                  </a:schemeClr>
                </a:solidFill>
                <a:latin typeface="FZZhengHeiS-DB-GB" panose="02000000000000000000" pitchFamily="2" charset="0"/>
                <a:ea typeface="FZZhengHeiS-DB-GB" panose="02000000000000000000" pitchFamily="2" charset="0"/>
              </a:rPr>
              <a:t>流程统一</a:t>
            </a:r>
          </a:p>
        </p:txBody>
      </p:sp>
      <p:sp>
        <p:nvSpPr>
          <p:cNvPr id="17" name="文本框 16"/>
          <p:cNvSpPr txBox="1"/>
          <p:nvPr/>
        </p:nvSpPr>
        <p:spPr>
          <a:xfrm>
            <a:off x="904649" y="2249158"/>
            <a:ext cx="3246257" cy="523220"/>
          </a:xfrm>
          <a:prstGeom prst="rect">
            <a:avLst/>
          </a:prstGeom>
          <a:noFill/>
        </p:spPr>
        <p:txBody>
          <a:bodyPr wrap="square" rtlCol="0">
            <a:spAutoFit/>
          </a:bodyPr>
          <a:lstStyle/>
          <a:p>
            <a:pPr algn="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项目</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迭代</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需求做到统一管理记录 √</a:t>
            </a:r>
            <a:endPar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endParaRPr>
          </a:p>
          <a:p>
            <a:pPr algn="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使用文档表格记录项目需求排期 </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X</a:t>
            </a:r>
            <a:endPar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endParaRPr>
          </a:p>
        </p:txBody>
      </p:sp>
      <p:sp>
        <p:nvSpPr>
          <p:cNvPr id="18" name="文本框 17"/>
          <p:cNvSpPr txBox="1"/>
          <p:nvPr/>
        </p:nvSpPr>
        <p:spPr>
          <a:xfrm>
            <a:off x="1925867" y="3633334"/>
            <a:ext cx="2225040" cy="36576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r>
              <a:rPr lang="zh-CN" altLang="en-US" dirty="0">
                <a:solidFill>
                  <a:schemeClr val="tx1">
                    <a:lumMod val="75000"/>
                    <a:lumOff val="25000"/>
                  </a:schemeClr>
                </a:solidFill>
                <a:effectLst/>
              </a:rPr>
              <a:t>设备管理</a:t>
            </a:r>
          </a:p>
        </p:txBody>
      </p:sp>
      <p:sp>
        <p:nvSpPr>
          <p:cNvPr id="19" name="文本框 18"/>
          <p:cNvSpPr txBox="1"/>
          <p:nvPr/>
        </p:nvSpPr>
        <p:spPr>
          <a:xfrm>
            <a:off x="-64167" y="3971889"/>
            <a:ext cx="4215075" cy="523220"/>
          </a:xfrm>
          <a:prstGeom prst="rect">
            <a:avLst/>
          </a:prstGeom>
          <a:noFill/>
        </p:spPr>
        <p:txBody>
          <a:bodyPr wrap="square" rtlCol="0">
            <a:spAutoFit/>
          </a:bodyPr>
          <a:lstStyle/>
          <a:p>
            <a:pPr algn="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极大减少人机交互成本与管理效率 √</a:t>
            </a:r>
            <a:endPar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endParaRPr>
          </a:p>
          <a:p>
            <a:pPr algn="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口头</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群聊记录设备，电脑</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真机来回切换操作 </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X</a:t>
            </a:r>
            <a:endPar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endParaRPr>
          </a:p>
        </p:txBody>
      </p:sp>
      <p:sp>
        <p:nvSpPr>
          <p:cNvPr id="20" name="文本框 19"/>
          <p:cNvSpPr txBox="1"/>
          <p:nvPr/>
        </p:nvSpPr>
        <p:spPr>
          <a:xfrm>
            <a:off x="7885778" y="1910306"/>
            <a:ext cx="2225040" cy="365760"/>
          </a:xfrm>
          <a:prstGeom prst="rect">
            <a:avLst/>
          </a:prstGeom>
          <a:noFill/>
        </p:spPr>
        <p:txBody>
          <a:bodyPr wrap="square" rtlCol="0">
            <a:spAutoFit/>
          </a:bodyPr>
          <a:lstStyle/>
          <a:p>
            <a:r>
              <a:rPr lang="zh-CN" altLang="en-US" dirty="0">
                <a:solidFill>
                  <a:schemeClr val="tx1">
                    <a:lumMod val="75000"/>
                    <a:lumOff val="25000"/>
                  </a:schemeClr>
                </a:solidFill>
                <a:latin typeface="FZZhengHeiS-DB-GB" panose="02000000000000000000" pitchFamily="2" charset="0"/>
                <a:ea typeface="FZZhengHeiS-DB-GB" panose="02000000000000000000" pitchFamily="2" charset="0"/>
              </a:rPr>
              <a:t>用例维护</a:t>
            </a:r>
          </a:p>
        </p:txBody>
      </p:sp>
      <p:sp>
        <p:nvSpPr>
          <p:cNvPr id="21" name="文本框 20"/>
          <p:cNvSpPr txBox="1"/>
          <p:nvPr/>
        </p:nvSpPr>
        <p:spPr>
          <a:xfrm>
            <a:off x="7885777" y="2265746"/>
            <a:ext cx="4107170" cy="523220"/>
          </a:xfrm>
          <a:prstGeom prst="rect">
            <a:avLst/>
          </a:prstGeom>
          <a:noFill/>
        </p:spPr>
        <p:txBody>
          <a:bodyPr wrap="square" rtlCol="0">
            <a:spAutoFit/>
          </a:bodyPr>
          <a:lstStyle/>
          <a:p>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 用例存档清晰、编写便捷高效、评审状态可追溯</a:t>
            </a:r>
            <a:endPar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endParaRPr>
          </a:p>
          <a:p>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X Excel</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维护，查看</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编写</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维护困难，测试思路受限</a:t>
            </a:r>
          </a:p>
        </p:txBody>
      </p:sp>
      <p:sp>
        <p:nvSpPr>
          <p:cNvPr id="22" name="文本框 21"/>
          <p:cNvSpPr txBox="1"/>
          <p:nvPr/>
        </p:nvSpPr>
        <p:spPr>
          <a:xfrm>
            <a:off x="7947512" y="3631689"/>
            <a:ext cx="2225040" cy="365760"/>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rPr>
              <a:t>数据可视化</a:t>
            </a:r>
          </a:p>
        </p:txBody>
      </p:sp>
      <p:sp>
        <p:nvSpPr>
          <p:cNvPr id="23" name="文本框 22"/>
          <p:cNvSpPr txBox="1"/>
          <p:nvPr/>
        </p:nvSpPr>
        <p:spPr>
          <a:xfrm>
            <a:off x="7947511" y="3987129"/>
            <a:ext cx="3970791" cy="523220"/>
          </a:xfrm>
          <a:prstGeom prst="rect">
            <a:avLst/>
          </a:prstGeom>
          <a:noFill/>
        </p:spPr>
        <p:txBody>
          <a:bodyPr wrap="square" rtlCol="0">
            <a:spAutoFit/>
          </a:bodyPr>
          <a:lstStyle/>
          <a:p>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 结果报告可视化，便于复盘总结</a:t>
            </a:r>
            <a:endPar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endParaRPr>
          </a:p>
          <a:p>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X </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任务结果分散，书写低效，无法从整体上分析</a:t>
            </a:r>
          </a:p>
        </p:txBody>
      </p:sp>
      <p:pic>
        <p:nvPicPr>
          <p:cNvPr id="2" name="图片 1">
            <a:extLst>
              <a:ext uri="{FF2B5EF4-FFF2-40B4-BE49-F238E27FC236}">
                <a16:creationId xmlns:a16="http://schemas.microsoft.com/office/drawing/2014/main" id="{840A623F-076C-E528-9BEE-FA593982AB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13305" y="314214"/>
            <a:ext cx="834225" cy="834225"/>
          </a:xfrm>
          <a:prstGeom prst="rect">
            <a:avLst/>
          </a:prstGeom>
        </p:spPr>
      </p:pic>
      <p:sp>
        <p:nvSpPr>
          <p:cNvPr id="3" name="文本框 2">
            <a:extLst>
              <a:ext uri="{FF2B5EF4-FFF2-40B4-BE49-F238E27FC236}">
                <a16:creationId xmlns:a16="http://schemas.microsoft.com/office/drawing/2014/main" id="{DFF0422D-AECE-2EC2-7DC6-13109D917272}"/>
              </a:ext>
            </a:extLst>
          </p:cNvPr>
          <p:cNvSpPr txBox="1"/>
          <p:nvPr/>
        </p:nvSpPr>
        <p:spPr>
          <a:xfrm>
            <a:off x="2733419" y="5394656"/>
            <a:ext cx="7377399" cy="1015663"/>
          </a:xfrm>
          <a:prstGeom prst="rect">
            <a:avLst/>
          </a:prstGeom>
          <a:noFill/>
        </p:spPr>
        <p:txBody>
          <a:bodyPr wrap="square" rtlCol="0">
            <a:spAutoFit/>
          </a:bodyPr>
          <a:lstStyle/>
          <a:p>
            <a:r>
              <a:rPr lang="zh-CN" altLang="en-US" dirty="0">
                <a:solidFill>
                  <a:schemeClr val="tx1">
                    <a:lumMod val="75000"/>
                    <a:lumOff val="25000"/>
                  </a:schemeClr>
                </a:solidFill>
                <a:latin typeface="FZZhengHeiS-DB-GB" panose="02000000000000000000" pitchFamily="2" charset="0"/>
                <a:ea typeface="FZZhengHeiS-DB-GB" panose="02000000000000000000" pitchFamily="2" charset="0"/>
              </a:rPr>
              <a:t>展望未来：</a:t>
            </a:r>
            <a:endParaRPr lang="en-US" altLang="zh-CN" dirty="0">
              <a:solidFill>
                <a:schemeClr val="tx1">
                  <a:lumMod val="75000"/>
                  <a:lumOff val="25000"/>
                </a:schemeClr>
              </a:solidFill>
              <a:latin typeface="FZZhengHeiS-DB-GB" panose="02000000000000000000" pitchFamily="2" charset="0"/>
              <a:ea typeface="FZZhengHeiS-DB-GB" panose="02000000000000000000" pitchFamily="2" charset="0"/>
            </a:endParaRPr>
          </a:p>
          <a:p>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当前项目已进行业务适配性改造并投入实际单位应用，实践表明对团队工作有较好的适用性</a:t>
            </a:r>
            <a:endPar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endParaRPr>
          </a:p>
          <a:p>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可优化点：增加用例评审的脑图呈现形式、提高</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AI</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生成用例的准确度等</a:t>
            </a:r>
            <a:endPar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endParaRPr>
          </a:p>
          <a:p>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可拓展点：增加</a:t>
            </a:r>
            <a:r>
              <a:rPr lang="en-US" altLang="zh-CN" sz="1400" dirty="0">
                <a:solidFill>
                  <a:schemeClr val="tx1">
                    <a:lumMod val="75000"/>
                    <a:lumOff val="25000"/>
                  </a:schemeClr>
                </a:solidFill>
                <a:latin typeface="FZZhengHeiS-DB-GB" panose="02000000000000000000" pitchFamily="2" charset="0"/>
                <a:ea typeface="FZZhengHeiS-DB-GB" panose="02000000000000000000" pitchFamily="2" charset="0"/>
              </a:rPr>
              <a:t>AI</a:t>
            </a:r>
            <a:r>
              <a:rPr lang="zh-CN" altLang="en-US" sz="1400" dirty="0">
                <a:solidFill>
                  <a:schemeClr val="tx1">
                    <a:lumMod val="75000"/>
                    <a:lumOff val="25000"/>
                  </a:schemeClr>
                </a:solidFill>
                <a:latin typeface="FZZhengHeiS-DB-GB" panose="02000000000000000000" pitchFamily="2" charset="0"/>
                <a:ea typeface="FZZhengHeiS-DB-GB" panose="02000000000000000000" pitchFamily="2" charset="0"/>
              </a:rPr>
              <a:t>赋能评审机制、接入专项测试能力（自动化、接口）</a:t>
            </a:r>
          </a:p>
        </p:txBody>
      </p:sp>
    </p:spTree>
    <p:extLst>
      <p:ext uri="{BB962C8B-B14F-4D97-AF65-F5344CB8AC3E}">
        <p14:creationId xmlns:p14="http://schemas.microsoft.com/office/powerpoint/2010/main" val="4023971085"/>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45805"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84658"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403122" y="405580"/>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718927" y="2080651"/>
            <a:ext cx="6754146" cy="822960"/>
          </a:xfrm>
          <a:prstGeom prst="rect">
            <a:avLst/>
          </a:prstGeom>
          <a:noFill/>
        </p:spPr>
        <p:txBody>
          <a:bodyPr wrap="square" rtlCol="0">
            <a:spAutoFit/>
          </a:bodyPr>
          <a:lstStyle/>
          <a:p>
            <a:pPr algn="dist"/>
            <a:r>
              <a:rPr lang="zh-CN" altLang="en-US" sz="4800" dirty="0">
                <a:solidFill>
                  <a:srgbClr val="1C4885"/>
                </a:solidFill>
                <a:latin typeface="FZZhengHeiS-DB-GB" panose="02000000000000000000" pitchFamily="2" charset="0"/>
                <a:ea typeface="FZZhengHeiS-DB-GB" panose="02000000000000000000" pitchFamily="2" charset="0"/>
              </a:rPr>
              <a:t>感谢聆听，请老师指正</a:t>
            </a:r>
          </a:p>
        </p:txBody>
      </p:sp>
      <p:cxnSp>
        <p:nvCxnSpPr>
          <p:cNvPr id="11" name="直接连接符 10"/>
          <p:cNvCxnSpPr/>
          <p:nvPr/>
        </p:nvCxnSpPr>
        <p:spPr>
          <a:xfrm>
            <a:off x="5401597" y="3738717"/>
            <a:ext cx="1388806"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2718928" y="2827444"/>
            <a:ext cx="6754145" cy="365760"/>
          </a:xfrm>
          <a:prstGeom prst="rect">
            <a:avLst/>
          </a:prstGeom>
          <a:noFill/>
        </p:spPr>
        <p:txBody>
          <a:bodyPr wrap="square" rtlCol="0">
            <a:spAutoFit/>
          </a:bodyPr>
          <a:lstStyle/>
          <a:p>
            <a:pPr algn="dist"/>
            <a:r>
              <a:rPr lang="en-US" altLang="zh-CN" dirty="0">
                <a:solidFill>
                  <a:srgbClr val="1C4885"/>
                </a:solidFill>
                <a:latin typeface="微软雅黑" panose="020B0503020204020204" pitchFamily="34" charset="-122"/>
                <a:ea typeface="微软雅黑" panose="020B0503020204020204" pitchFamily="34" charset="-122"/>
              </a:rPr>
              <a:t>Thank you for listening, please correct the teacher</a:t>
            </a:r>
          </a:p>
        </p:txBody>
      </p:sp>
      <p:pic>
        <p:nvPicPr>
          <p:cNvPr id="2" name="图片 1">
            <a:extLst>
              <a:ext uri="{FF2B5EF4-FFF2-40B4-BE49-F238E27FC236}">
                <a16:creationId xmlns:a16="http://schemas.microsoft.com/office/drawing/2014/main" id="{6348CF62-4DA0-793A-BA90-77CE62E5BE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39242" y="738438"/>
            <a:ext cx="834225" cy="834225"/>
          </a:xfrm>
          <a:prstGeom prst="rect">
            <a:avLst/>
          </a:prstGeom>
        </p:spPr>
      </p:pic>
      <p:sp>
        <p:nvSpPr>
          <p:cNvPr id="3" name="文本框 2">
            <a:extLst>
              <a:ext uri="{FF2B5EF4-FFF2-40B4-BE49-F238E27FC236}">
                <a16:creationId xmlns:a16="http://schemas.microsoft.com/office/drawing/2014/main" id="{128940E1-247C-F0E2-F53A-285D6BC86AD5}"/>
              </a:ext>
            </a:extLst>
          </p:cNvPr>
          <p:cNvSpPr txBox="1"/>
          <p:nvPr/>
        </p:nvSpPr>
        <p:spPr>
          <a:xfrm>
            <a:off x="3334132" y="4321143"/>
            <a:ext cx="5523734" cy="369332"/>
          </a:xfrm>
          <a:prstGeom prst="rect">
            <a:avLst/>
          </a:prstGeom>
          <a:noFill/>
        </p:spPr>
        <p:txBody>
          <a:bodyPr wrap="square" rtlCol="0">
            <a:spAutoFit/>
          </a:bodyPr>
          <a:lstStyle/>
          <a:p>
            <a:pPr algn="just"/>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汇报人：信计</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223</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陈国慧   汇报时间：</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2026</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5</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月</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6</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日</a:t>
            </a:r>
          </a:p>
        </p:txBody>
      </p:sp>
    </p:spTree>
    <p:extLst>
      <p:ext uri="{BB962C8B-B14F-4D97-AF65-F5344CB8AC3E}">
        <p14:creationId xmlns:p14="http://schemas.microsoft.com/office/powerpoint/2010/main" val="57088053"/>
      </p:ext>
    </p:extLst>
  </p:cSld>
  <p:clrMapOvr>
    <a:masterClrMapping/>
  </p:clrMapOvr>
  <mc:AlternateContent xmlns:mc="http://schemas.openxmlformats.org/markup-compatibility/2006" xmlns:p14="http://schemas.microsoft.com/office/powerpoint/2010/main">
    <mc:Choice Requires="p14">
      <p:transition p14:dur="10"/>
    </mc:Choice>
    <mc:Fallback xmlns:wp="http://schemas.openxmlformats.org/drawingml/2006/wordprocessingDrawing" xmlns:w="http://schemas.openxmlformats.org/wordprocessingml/2006/main" xmlns:p159="http://schemas.microsoft.com/office/powerpoint/2015/09/main" xmlns:p15="http://schemas.microsoft.com/office/powerpoint/2012/main" xmlns:m="http://schemas.openxmlformats.org/officeDocument/2006/math" xmlns:a14="http://schemas.microsoft.com/office/drawing/2010/main"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0.04.14"/>
  <p:tag name="AS_TITLE" val="Aspose.Slides for .NET 4.0 Client Profile"/>
  <p:tag name="AS_VERSION" val="20.4"/>
  <p:tag name="ISPRING_PRESENTATION_TITLE" val="蓝色简洁毕业答辩PPT模板"/>
</p:tagLst>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1426</TotalTime>
  <Words>765</Words>
  <Application>Microsoft Office PowerPoint</Application>
  <PresentationFormat>宽屏</PresentationFormat>
  <Paragraphs>105</Paragraphs>
  <Slides>13</Slides>
  <Notes>13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13</vt:i4>
      </vt:variant>
    </vt:vector>
  </HeadingPairs>
  <TitlesOfParts>
    <vt:vector size="24" baseType="lpstr">
      <vt:lpstr>FuturaBookC</vt:lpstr>
      <vt:lpstr>FZZhengHeiS-DB-GB</vt:lpstr>
      <vt:lpstr>等线</vt:lpstr>
      <vt:lpstr>等线 Light</vt:lpstr>
      <vt:lpstr>锐字逼格青春粗黑体简2.0</vt:lpstr>
      <vt:lpstr>微软雅黑</vt:lpstr>
      <vt:lpstr>Arial</vt:lpstr>
      <vt:lpstr>Calibri</vt:lpstr>
      <vt:lpstr>Calibri Light</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国慧 陈</cp:lastModifiedBy>
  <cp:revision>245</cp:revision>
  <cp:lastPrinted>2021-08-22T12:08:24Z</cp:lastPrinted>
  <dcterms:created xsi:type="dcterms:W3CDTF">2021-08-22T12:08:24Z</dcterms:created>
  <dcterms:modified xsi:type="dcterms:W3CDTF">2026-04-29T07:23:10Z</dcterms:modified>
</cp:coreProperties>
</file>